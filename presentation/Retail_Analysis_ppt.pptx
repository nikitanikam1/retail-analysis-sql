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80" r:id="rId5"/>
    <p:sldId id="284" r:id="rId6"/>
    <p:sldId id="259" r:id="rId7"/>
    <p:sldId id="264" r:id="rId8"/>
    <p:sldId id="265" r:id="rId9"/>
    <p:sldId id="266" r:id="rId10"/>
    <p:sldId id="267" r:id="rId11"/>
    <p:sldId id="268" r:id="rId12"/>
    <p:sldId id="269" r:id="rId13"/>
    <p:sldId id="270" r:id="rId14"/>
    <p:sldId id="275" r:id="rId15"/>
    <p:sldId id="276" r:id="rId16"/>
    <p:sldId id="279" r:id="rId1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2" d="100"/>
          <a:sy n="72" d="100"/>
        </p:scale>
        <p:origin x="998"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ita Nikam" userId="56c39fcef005cdb9" providerId="LiveId" clId="{34F1219F-BA16-4017-83E0-1E194F271367}"/>
    <pc:docChg chg="undo custSel modSld">
      <pc:chgData name="Nikita Nikam" userId="56c39fcef005cdb9" providerId="LiveId" clId="{34F1219F-BA16-4017-83E0-1E194F271367}" dt="2026-01-17T03:23:32.326" v="80" actId="1076"/>
      <pc:docMkLst>
        <pc:docMk/>
      </pc:docMkLst>
      <pc:sldChg chg="modSp mod">
        <pc:chgData name="Nikita Nikam" userId="56c39fcef005cdb9" providerId="LiveId" clId="{34F1219F-BA16-4017-83E0-1E194F271367}" dt="2026-01-17T03:23:32.326" v="80" actId="1076"/>
        <pc:sldMkLst>
          <pc:docMk/>
          <pc:sldMk cId="0" sldId="256"/>
        </pc:sldMkLst>
        <pc:spChg chg="mod">
          <ac:chgData name="Nikita Nikam" userId="56c39fcef005cdb9" providerId="LiveId" clId="{34F1219F-BA16-4017-83E0-1E194F271367}" dt="2026-01-17T03:23:32.326" v="80" actId="1076"/>
          <ac:spMkLst>
            <pc:docMk/>
            <pc:sldMk cId="0" sldId="256"/>
            <ac:spMk id="7" creationId="{00000000-0000-0000-0000-000000000000}"/>
          </ac:spMkLst>
        </pc:spChg>
      </pc:sldChg>
      <pc:sldChg chg="modSp mod">
        <pc:chgData name="Nikita Nikam" userId="56c39fcef005cdb9" providerId="LiveId" clId="{34F1219F-BA16-4017-83E0-1E194F271367}" dt="2026-01-17T03:20:04.038" v="58" actId="255"/>
        <pc:sldMkLst>
          <pc:docMk/>
          <pc:sldMk cId="0" sldId="257"/>
        </pc:sldMkLst>
        <pc:spChg chg="mod">
          <ac:chgData name="Nikita Nikam" userId="56c39fcef005cdb9" providerId="LiveId" clId="{34F1219F-BA16-4017-83E0-1E194F271367}" dt="2026-01-17T03:20:04.038" v="58" actId="255"/>
          <ac:spMkLst>
            <pc:docMk/>
            <pc:sldMk cId="0" sldId="257"/>
            <ac:spMk id="3" creationId="{00000000-0000-0000-0000-000000000000}"/>
          </ac:spMkLst>
        </pc:spChg>
      </pc:sldChg>
      <pc:sldChg chg="modSp mod">
        <pc:chgData name="Nikita Nikam" userId="56c39fcef005cdb9" providerId="LiveId" clId="{34F1219F-BA16-4017-83E0-1E194F271367}" dt="2026-01-17T03:19:35.537" v="53" actId="255"/>
        <pc:sldMkLst>
          <pc:docMk/>
          <pc:sldMk cId="0" sldId="258"/>
        </pc:sldMkLst>
        <pc:spChg chg="mod">
          <ac:chgData name="Nikita Nikam" userId="56c39fcef005cdb9" providerId="LiveId" clId="{34F1219F-BA16-4017-83E0-1E194F271367}" dt="2026-01-17T03:19:35.537" v="53" actId="255"/>
          <ac:spMkLst>
            <pc:docMk/>
            <pc:sldMk cId="0" sldId="258"/>
            <ac:spMk id="2" creationId="{00000000-0000-0000-0000-000000000000}"/>
          </ac:spMkLst>
        </pc:spChg>
      </pc:sldChg>
      <pc:sldChg chg="modSp mod">
        <pc:chgData name="Nikita Nikam" userId="56c39fcef005cdb9" providerId="LiveId" clId="{34F1219F-BA16-4017-83E0-1E194F271367}" dt="2026-01-17T03:20:42.765" v="65" actId="207"/>
        <pc:sldMkLst>
          <pc:docMk/>
          <pc:sldMk cId="0" sldId="259"/>
        </pc:sldMkLst>
        <pc:spChg chg="mod">
          <ac:chgData name="Nikita Nikam" userId="56c39fcef005cdb9" providerId="LiveId" clId="{34F1219F-BA16-4017-83E0-1E194F271367}" dt="2026-01-17T03:20:42.765" v="65" actId="207"/>
          <ac:spMkLst>
            <pc:docMk/>
            <pc:sldMk cId="0" sldId="259"/>
            <ac:spMk id="7" creationId="{00000000-0000-0000-0000-000000000000}"/>
          </ac:spMkLst>
        </pc:spChg>
      </pc:sldChg>
      <pc:sldChg chg="modSp mod">
        <pc:chgData name="Nikita Nikam" userId="56c39fcef005cdb9" providerId="LiveId" clId="{34F1219F-BA16-4017-83E0-1E194F271367}" dt="2026-01-17T03:20:53.972" v="66" actId="20577"/>
        <pc:sldMkLst>
          <pc:docMk/>
          <pc:sldMk cId="0" sldId="264"/>
        </pc:sldMkLst>
        <pc:spChg chg="mod">
          <ac:chgData name="Nikita Nikam" userId="56c39fcef005cdb9" providerId="LiveId" clId="{34F1219F-BA16-4017-83E0-1E194F271367}" dt="2026-01-17T03:20:53.972" v="66" actId="20577"/>
          <ac:spMkLst>
            <pc:docMk/>
            <pc:sldMk cId="0" sldId="264"/>
            <ac:spMk id="2" creationId="{00000000-0000-0000-0000-000000000000}"/>
          </ac:spMkLst>
        </pc:spChg>
      </pc:sldChg>
      <pc:sldChg chg="addSp delSp modSp mod">
        <pc:chgData name="Nikita Nikam" userId="56c39fcef005cdb9" providerId="LiveId" clId="{34F1219F-BA16-4017-83E0-1E194F271367}" dt="2026-01-17T03:21:14.644" v="68" actId="255"/>
        <pc:sldMkLst>
          <pc:docMk/>
          <pc:sldMk cId="0" sldId="275"/>
        </pc:sldMkLst>
        <pc:spChg chg="add mod">
          <ac:chgData name="Nikita Nikam" userId="56c39fcef005cdb9" providerId="LiveId" clId="{34F1219F-BA16-4017-83E0-1E194F271367}" dt="2026-01-05T12:45:23.556" v="43" actId="1076"/>
          <ac:spMkLst>
            <pc:docMk/>
            <pc:sldMk cId="0" sldId="275"/>
            <ac:spMk id="3" creationId="{E4E8539F-1D8E-8A14-6531-CC9432FA72D0}"/>
          </ac:spMkLst>
        </pc:spChg>
        <pc:spChg chg="mod">
          <ac:chgData name="Nikita Nikam" userId="56c39fcef005cdb9" providerId="LiveId" clId="{34F1219F-BA16-4017-83E0-1E194F271367}" dt="2026-01-17T03:21:14.644" v="68" actId="255"/>
          <ac:spMkLst>
            <pc:docMk/>
            <pc:sldMk cId="0" sldId="275"/>
            <ac:spMk id="5" creationId="{00000000-0000-0000-0000-000000000000}"/>
          </ac:spMkLst>
        </pc:spChg>
      </pc:sldChg>
      <pc:sldChg chg="modSp mod">
        <pc:chgData name="Nikita Nikam" userId="56c39fcef005cdb9" providerId="LiveId" clId="{34F1219F-BA16-4017-83E0-1E194F271367}" dt="2026-01-17T03:21:25.113" v="70" actId="255"/>
        <pc:sldMkLst>
          <pc:docMk/>
          <pc:sldMk cId="0" sldId="276"/>
        </pc:sldMkLst>
        <pc:spChg chg="mod">
          <ac:chgData name="Nikita Nikam" userId="56c39fcef005cdb9" providerId="LiveId" clId="{34F1219F-BA16-4017-83E0-1E194F271367}" dt="2026-01-05T12:45:36.745" v="47" actId="1076"/>
          <ac:spMkLst>
            <pc:docMk/>
            <pc:sldMk cId="0" sldId="276"/>
            <ac:spMk id="2" creationId="{0A256FE8-0C42-998C-3175-5C1A8A5AE254}"/>
          </ac:spMkLst>
        </pc:spChg>
        <pc:spChg chg="mod">
          <ac:chgData name="Nikita Nikam" userId="56c39fcef005cdb9" providerId="LiveId" clId="{34F1219F-BA16-4017-83E0-1E194F271367}" dt="2026-01-17T03:21:25.113" v="70" actId="255"/>
          <ac:spMkLst>
            <pc:docMk/>
            <pc:sldMk cId="0" sldId="276"/>
            <ac:spMk id="4" creationId="{E9F10482-8F49-60CB-C8FC-1864C1955B9C}"/>
          </ac:spMkLst>
        </pc:spChg>
      </pc:sldChg>
      <pc:sldChg chg="modSp mod">
        <pc:chgData name="Nikita Nikam" userId="56c39fcef005cdb9" providerId="LiveId" clId="{34F1219F-BA16-4017-83E0-1E194F271367}" dt="2026-01-17T03:21:45.037" v="74" actId="1076"/>
        <pc:sldMkLst>
          <pc:docMk/>
          <pc:sldMk cId="0" sldId="279"/>
        </pc:sldMkLst>
        <pc:spChg chg="mod">
          <ac:chgData name="Nikita Nikam" userId="56c39fcef005cdb9" providerId="LiveId" clId="{34F1219F-BA16-4017-83E0-1E194F271367}" dt="2026-01-17T03:21:45.037" v="74" actId="1076"/>
          <ac:spMkLst>
            <pc:docMk/>
            <pc:sldMk cId="0" sldId="279"/>
            <ac:spMk id="3" creationId="{00000000-0000-0000-0000-000000000000}"/>
          </ac:spMkLst>
        </pc:spChg>
      </pc:sldChg>
      <pc:sldChg chg="modSp mod">
        <pc:chgData name="Nikita Nikam" userId="56c39fcef005cdb9" providerId="LiveId" clId="{34F1219F-BA16-4017-83E0-1E194F271367}" dt="2026-01-17T03:20:22.573" v="62" actId="207"/>
        <pc:sldMkLst>
          <pc:docMk/>
          <pc:sldMk cId="631322543" sldId="280"/>
        </pc:sldMkLst>
        <pc:spChg chg="mod">
          <ac:chgData name="Nikita Nikam" userId="56c39fcef005cdb9" providerId="LiveId" clId="{34F1219F-BA16-4017-83E0-1E194F271367}" dt="2026-01-17T03:20:14.509" v="60" actId="207"/>
          <ac:spMkLst>
            <pc:docMk/>
            <pc:sldMk cId="631322543" sldId="280"/>
            <ac:spMk id="10" creationId="{81C92691-C4BD-926E-11B3-5CF940E92FAB}"/>
          </ac:spMkLst>
        </pc:spChg>
        <pc:spChg chg="mod">
          <ac:chgData name="Nikita Nikam" userId="56c39fcef005cdb9" providerId="LiveId" clId="{34F1219F-BA16-4017-83E0-1E194F271367}" dt="2026-01-17T03:20:22.573" v="62" actId="207"/>
          <ac:spMkLst>
            <pc:docMk/>
            <pc:sldMk cId="631322543" sldId="280"/>
            <ac:spMk id="16" creationId="{F7E3A168-692F-8964-8CA6-35E09078F228}"/>
          </ac:spMkLst>
        </pc:spChg>
      </pc:sldChg>
      <pc:sldChg chg="modSp mod">
        <pc:chgData name="Nikita Nikam" userId="56c39fcef005cdb9" providerId="LiveId" clId="{34F1219F-BA16-4017-83E0-1E194F271367}" dt="2026-01-17T03:20:35.553" v="64" actId="255"/>
        <pc:sldMkLst>
          <pc:docMk/>
          <pc:sldMk cId="1966830377" sldId="284"/>
        </pc:sldMkLst>
        <pc:spChg chg="mod">
          <ac:chgData name="Nikita Nikam" userId="56c39fcef005cdb9" providerId="LiveId" clId="{34F1219F-BA16-4017-83E0-1E194F271367}" dt="2026-01-17T03:20:35.553" v="64" actId="255"/>
          <ac:spMkLst>
            <pc:docMk/>
            <pc:sldMk cId="1966830377" sldId="284"/>
            <ac:spMk id="2" creationId="{00E70399-6869-0D27-F11A-5CC7F9E3982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07987" y="321310"/>
            <a:ext cx="1379855" cy="1012190"/>
          </a:xfrm>
          <a:prstGeom prst="rect">
            <a:avLst/>
          </a:prstGeom>
        </p:spPr>
        <p:txBody>
          <a:bodyPr wrap="square" lIns="0" tIns="0" rIns="0" bIns="0">
            <a:spAutoFit/>
          </a:bodyPr>
          <a:lstStyle>
            <a:lvl1pPr>
              <a:defRPr sz="3950" b="1" i="0">
                <a:solidFill>
                  <a:srgbClr val="FF0000"/>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FF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FF0000"/>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8963175" y="6284360"/>
            <a:ext cx="2936587" cy="449034"/>
          </a:xfrm>
          <a:prstGeom prst="rect">
            <a:avLst/>
          </a:prstGeom>
        </p:spPr>
      </p:pic>
      <p:sp>
        <p:nvSpPr>
          <p:cNvPr id="2" name="Holder 2"/>
          <p:cNvSpPr>
            <a:spLocks noGrp="1"/>
          </p:cNvSpPr>
          <p:nvPr>
            <p:ph type="title"/>
          </p:nvPr>
        </p:nvSpPr>
        <p:spPr>
          <a:xfrm>
            <a:off x="101600" y="47942"/>
            <a:ext cx="11830685" cy="1011555"/>
          </a:xfrm>
          <a:prstGeom prst="rect">
            <a:avLst/>
          </a:prstGeom>
        </p:spPr>
        <p:txBody>
          <a:bodyPr wrap="square" lIns="0" tIns="0" rIns="0" bIns="0">
            <a:spAutoFit/>
          </a:bodyPr>
          <a:lstStyle>
            <a:lvl1pPr>
              <a:defRPr sz="3950" b="1" i="0">
                <a:solidFill>
                  <a:srgbClr val="FF0000"/>
                </a:solidFill>
                <a:latin typeface="Calibri"/>
                <a:cs typeface="Calibri"/>
              </a:defRPr>
            </a:lvl1pPr>
          </a:lstStyle>
          <a:p>
            <a:endParaRPr/>
          </a:p>
        </p:txBody>
      </p:sp>
      <p:sp>
        <p:nvSpPr>
          <p:cNvPr id="3" name="Holder 3"/>
          <p:cNvSpPr>
            <a:spLocks noGrp="1"/>
          </p:cNvSpPr>
          <p:nvPr>
            <p:ph type="body" idx="1"/>
          </p:nvPr>
        </p:nvSpPr>
        <p:spPr>
          <a:xfrm>
            <a:off x="829627" y="1368361"/>
            <a:ext cx="6562725" cy="3669029"/>
          </a:xfrm>
          <a:prstGeom prst="rect">
            <a:avLst/>
          </a:prstGeom>
        </p:spPr>
        <p:txBody>
          <a:bodyPr wrap="square" lIns="0" tIns="0" rIns="0" bIns="0">
            <a:spAutoFit/>
          </a:bodyPr>
          <a:lstStyle>
            <a:lvl1pPr>
              <a:defRPr sz="2400" b="1"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NikitaNikam1" TargetMode="External"/><Relationship Id="rId2" Type="http://schemas.openxmlformats.org/officeDocument/2006/relationships/hyperlink" Target="https://www.linkedin.com/in/nikita-nikam-184b39240"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D0D0D"/>
          </a:solidFill>
        </p:spPr>
        <p:txBody>
          <a:bodyPr wrap="square" lIns="0" tIns="0" rIns="0" bIns="0" rtlCol="0"/>
          <a:lstStyle/>
          <a:p>
            <a:endParaRPr/>
          </a:p>
        </p:txBody>
      </p:sp>
      <p:grpSp>
        <p:nvGrpSpPr>
          <p:cNvPr id="3" name="object 3"/>
          <p:cNvGrpSpPr/>
          <p:nvPr/>
        </p:nvGrpSpPr>
        <p:grpSpPr>
          <a:xfrm>
            <a:off x="0" y="0"/>
            <a:ext cx="12191999" cy="6810371"/>
            <a:chOff x="0" y="0"/>
            <a:chExt cx="12191999" cy="6810371"/>
          </a:xfrm>
        </p:grpSpPr>
        <p:pic>
          <p:nvPicPr>
            <p:cNvPr id="4" name="object 4"/>
            <p:cNvPicPr/>
            <p:nvPr/>
          </p:nvPicPr>
          <p:blipFill>
            <a:blip r:embed="rId2" cstate="print"/>
            <a:stretch>
              <a:fillRect/>
            </a:stretch>
          </p:blipFill>
          <p:spPr>
            <a:xfrm>
              <a:off x="8810625" y="6181723"/>
              <a:ext cx="3228975" cy="628648"/>
            </a:xfrm>
            <a:prstGeom prst="rect">
              <a:avLst/>
            </a:prstGeom>
          </p:spPr>
        </p:pic>
        <p:pic>
          <p:nvPicPr>
            <p:cNvPr id="5" name="object 5"/>
            <p:cNvPicPr/>
            <p:nvPr/>
          </p:nvPicPr>
          <p:blipFill>
            <a:blip r:embed="rId3" cstate="print"/>
            <a:stretch>
              <a:fillRect/>
            </a:stretch>
          </p:blipFill>
          <p:spPr>
            <a:xfrm>
              <a:off x="0" y="0"/>
              <a:ext cx="12191999" cy="6696075"/>
            </a:xfrm>
            <a:prstGeom prst="rect">
              <a:avLst/>
            </a:prstGeom>
          </p:spPr>
        </p:pic>
      </p:grpSp>
      <p:sp>
        <p:nvSpPr>
          <p:cNvPr id="7" name="object 7"/>
          <p:cNvSpPr txBox="1">
            <a:spLocks noGrp="1"/>
          </p:cNvSpPr>
          <p:nvPr>
            <p:ph type="title"/>
          </p:nvPr>
        </p:nvSpPr>
        <p:spPr>
          <a:xfrm>
            <a:off x="3962400" y="3810000"/>
            <a:ext cx="4539744" cy="693780"/>
          </a:xfrm>
          <a:prstGeom prst="rect">
            <a:avLst/>
          </a:prstGeom>
        </p:spPr>
        <p:txBody>
          <a:bodyPr vert="horz" wrap="square" lIns="0" tIns="16510" rIns="0" bIns="0" rtlCol="0">
            <a:spAutoFit/>
          </a:bodyPr>
          <a:lstStyle/>
          <a:p>
            <a:pPr marL="12700">
              <a:lnSpc>
                <a:spcPct val="100000"/>
              </a:lnSpc>
              <a:spcBef>
                <a:spcPts val="130"/>
              </a:spcBef>
            </a:pPr>
            <a:r>
              <a:rPr lang="en-US" sz="4400" dirty="0">
                <a:latin typeface="Calibri"/>
                <a:cs typeface="Calibri"/>
              </a:rPr>
              <a:t> </a:t>
            </a:r>
            <a:r>
              <a:rPr lang="en-US" sz="4400" dirty="0">
                <a:solidFill>
                  <a:srgbClr val="C00000"/>
                </a:solidFill>
                <a:latin typeface="Cambria" panose="02040503050406030204" pitchFamily="18" charset="0"/>
                <a:ea typeface="Cambria" panose="02040503050406030204" pitchFamily="18" charset="0"/>
                <a:cs typeface="Aldhabi" panose="020F0502020204030204" pitchFamily="2" charset="-78"/>
              </a:rPr>
              <a:t>Retail Analysis</a:t>
            </a:r>
            <a:endParaRPr sz="4400" dirty="0">
              <a:solidFill>
                <a:srgbClr val="C00000"/>
              </a:solidFill>
              <a:latin typeface="Cambria" panose="02040503050406030204" pitchFamily="18" charset="0"/>
              <a:ea typeface="Cambria" panose="02040503050406030204" pitchFamily="18" charset="0"/>
              <a:cs typeface="Aldhabi" panose="020F0502020204030204" pitchFamily="2" charset="-78"/>
            </a:endParaRPr>
          </a:p>
        </p:txBody>
      </p:sp>
      <p:sp>
        <p:nvSpPr>
          <p:cNvPr id="6" name="TextBox 5">
            <a:extLst>
              <a:ext uri="{FF2B5EF4-FFF2-40B4-BE49-F238E27FC236}">
                <a16:creationId xmlns:a16="http://schemas.microsoft.com/office/drawing/2014/main" id="{FBF15E7E-C1E7-F6A1-9E21-6D7B8686609C}"/>
              </a:ext>
            </a:extLst>
          </p:cNvPr>
          <p:cNvSpPr txBox="1"/>
          <p:nvPr/>
        </p:nvSpPr>
        <p:spPr>
          <a:xfrm>
            <a:off x="138113" y="6147980"/>
            <a:ext cx="4267200" cy="369332"/>
          </a:xfrm>
          <a:prstGeom prst="rect">
            <a:avLst/>
          </a:prstGeom>
          <a:noFill/>
        </p:spPr>
        <p:txBody>
          <a:bodyPr wrap="square" rtlCol="0">
            <a:spAutoFit/>
          </a:bodyPr>
          <a:lstStyle/>
          <a:p>
            <a:r>
              <a:rPr lang="en-US" b="1" dirty="0">
                <a:solidFill>
                  <a:srgbClr val="FF0000"/>
                </a:solidFill>
              </a:rPr>
              <a:t>Presented By: Nikita Nikam</a:t>
            </a:r>
            <a:endParaRPr lang="en-IN"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400" y="1039125"/>
            <a:ext cx="12039600" cy="5947782"/>
          </a:xfrm>
          <a:prstGeom prst="rect">
            <a:avLst/>
          </a:prstGeom>
        </p:spPr>
        <p:txBody>
          <a:bodyPr vert="horz" wrap="square" lIns="0" tIns="99060" rIns="0" bIns="0" rtlCol="0">
            <a:spAutoFit/>
          </a:bodyPr>
          <a:lstStyle/>
          <a:p>
            <a:pPr marL="540385" marR="2815590" indent="-342900" algn="l">
              <a:lnSpc>
                <a:spcPct val="104800"/>
              </a:lnSpc>
              <a:spcBef>
                <a:spcPts val="484"/>
              </a:spcBef>
              <a:buFont typeface="Arial" panose="020B0604020202020204" pitchFamily="34" charset="0"/>
              <a:buChar char="•"/>
            </a:pPr>
            <a:r>
              <a:rPr lang="en-US" sz="2000" b="1" dirty="0">
                <a:latin typeface="Arial MT"/>
                <a:cs typeface="Arial MT"/>
              </a:rPr>
              <a:t>Background</a:t>
            </a:r>
          </a:p>
          <a:p>
            <a:pPr marL="452438" marR="2815590" indent="-361950" algn="l">
              <a:lnSpc>
                <a:spcPct val="104800"/>
              </a:lnSpc>
              <a:spcBef>
                <a:spcPts val="484"/>
              </a:spcBef>
            </a:pPr>
            <a:r>
              <a:rPr lang="en-US" sz="2000" dirty="0">
                <a:latin typeface="Arial MT"/>
                <a:cs typeface="Arial MT"/>
              </a:rPr>
              <a:t>     I have recently completed my Bachelor’s Degree in Information Technology      from Savitribai Phule Pune University (SPPU).</a:t>
            </a:r>
          </a:p>
          <a:p>
            <a:pPr marL="452438" marR="2815590" indent="-361950" algn="l">
              <a:lnSpc>
                <a:spcPct val="104800"/>
              </a:lnSpc>
              <a:spcBef>
                <a:spcPts val="484"/>
              </a:spcBef>
            </a:pPr>
            <a:endParaRPr lang="en-US" sz="2000" b="1" dirty="0">
              <a:latin typeface="Arial MT"/>
              <a:cs typeface="Calibri"/>
            </a:endParaRPr>
          </a:p>
          <a:p>
            <a:pPr marL="540385" marR="610235" indent="-342900">
              <a:lnSpc>
                <a:spcPct val="100000"/>
              </a:lnSpc>
              <a:spcBef>
                <a:spcPts val="70"/>
              </a:spcBef>
              <a:buFont typeface="Arial" panose="020B0604020202020204" pitchFamily="34" charset="0"/>
              <a:buChar char="•"/>
            </a:pPr>
            <a:r>
              <a:rPr lang="en-US" sz="2000" b="1" dirty="0">
                <a:latin typeface="Arial MT"/>
                <a:cs typeface="Arial MT"/>
              </a:rPr>
              <a:t>Why you want to learn Data Science</a:t>
            </a:r>
          </a:p>
          <a:p>
            <a:pPr marL="197485" marR="610235">
              <a:lnSpc>
                <a:spcPct val="100000"/>
              </a:lnSpc>
              <a:spcBef>
                <a:spcPts val="70"/>
              </a:spcBef>
            </a:pPr>
            <a:r>
              <a:rPr lang="en-US" sz="2000" b="1" dirty="0">
                <a:latin typeface="Arial MT"/>
                <a:cs typeface="Arial MT"/>
              </a:rPr>
              <a:t>   </a:t>
            </a:r>
            <a:r>
              <a:rPr lang="en-US" sz="2000" dirty="0"/>
              <a:t>I want to learn Data Science because it helps understand large amounts of data and convert it into</a:t>
            </a:r>
          </a:p>
          <a:p>
            <a:pPr marL="197485" marR="610235">
              <a:spcBef>
                <a:spcPts val="70"/>
              </a:spcBef>
            </a:pPr>
            <a:r>
              <a:rPr lang="en-US" sz="2000" b="1" dirty="0">
                <a:latin typeface="Arial MT"/>
                <a:cs typeface="Arial MT"/>
              </a:rPr>
              <a:t>   </a:t>
            </a:r>
            <a:r>
              <a:rPr lang="en-US" sz="2000" dirty="0"/>
              <a:t>useful insights. It enables predicting future trends and solving real-world problems using data.</a:t>
            </a:r>
            <a:endParaRPr lang="en-US" sz="2000" b="1" dirty="0">
              <a:latin typeface="Arial MT"/>
              <a:cs typeface="Arial MT"/>
            </a:endParaRPr>
          </a:p>
          <a:p>
            <a:pPr marL="197485" marR="610235">
              <a:lnSpc>
                <a:spcPct val="100000"/>
              </a:lnSpc>
              <a:spcBef>
                <a:spcPts val="70"/>
              </a:spcBef>
            </a:pPr>
            <a:r>
              <a:rPr lang="en-US" sz="2000" dirty="0"/>
              <a:t>   Data Science because it combines statistics, programming, and machine learning to analyze </a:t>
            </a:r>
          </a:p>
          <a:p>
            <a:pPr marL="197485" marR="610235">
              <a:lnSpc>
                <a:spcPct val="100000"/>
              </a:lnSpc>
              <a:spcBef>
                <a:spcPts val="70"/>
              </a:spcBef>
            </a:pPr>
            <a:r>
              <a:rPr lang="en-US" sz="2000" dirty="0"/>
              <a:t>   complex datasets and build predictive models. It helps uncover hidden patterns, optimize</a:t>
            </a:r>
          </a:p>
          <a:p>
            <a:pPr marL="197485" marR="610235">
              <a:spcBef>
                <a:spcPts val="70"/>
              </a:spcBef>
            </a:pPr>
            <a:r>
              <a:rPr lang="en-US" sz="2000" dirty="0">
                <a:latin typeface="Arial MT"/>
                <a:cs typeface="Arial MT"/>
              </a:rPr>
              <a:t>   </a:t>
            </a:r>
            <a:r>
              <a:rPr lang="en-US" sz="2000" dirty="0"/>
              <a:t>processes, and support data-driven decision-making.</a:t>
            </a:r>
          </a:p>
          <a:p>
            <a:pPr marL="197485" marR="610235">
              <a:spcBef>
                <a:spcPts val="70"/>
              </a:spcBef>
            </a:pPr>
            <a:endParaRPr lang="en-US" sz="2000" dirty="0"/>
          </a:p>
          <a:p>
            <a:pPr marL="540385" marR="610235" indent="-342900">
              <a:lnSpc>
                <a:spcPct val="100000"/>
              </a:lnSpc>
              <a:spcBef>
                <a:spcPts val="70"/>
              </a:spcBef>
              <a:buFont typeface="Arial" panose="020B0604020202020204" pitchFamily="34" charset="0"/>
              <a:buChar char="•"/>
            </a:pPr>
            <a:r>
              <a:rPr lang="en-US" sz="2000" b="1" dirty="0">
                <a:latin typeface="Arial MT"/>
              </a:rPr>
              <a:t>LinkedIn and GitHub profile URLs</a:t>
            </a:r>
          </a:p>
          <a:p>
            <a:pPr marL="197485" marR="610235">
              <a:lnSpc>
                <a:spcPct val="100000"/>
              </a:lnSpc>
              <a:spcBef>
                <a:spcPts val="70"/>
              </a:spcBef>
            </a:pPr>
            <a:endParaRPr lang="en-US" sz="1800" b="1" dirty="0"/>
          </a:p>
          <a:p>
            <a:pPr marL="197485" marR="610235">
              <a:lnSpc>
                <a:spcPct val="100000"/>
              </a:lnSpc>
              <a:spcBef>
                <a:spcPts val="70"/>
              </a:spcBef>
            </a:pPr>
            <a:r>
              <a:rPr lang="en-US" sz="2000" b="1" dirty="0"/>
              <a:t>     </a:t>
            </a:r>
            <a:r>
              <a:rPr lang="en-US" sz="2000" dirty="0">
                <a:hlinkClick r:id="rId2"/>
              </a:rPr>
              <a:t>https://www.linkedin.com/in/nikita-nikam-184b39240</a:t>
            </a:r>
            <a:endParaRPr lang="en-US" sz="2000" dirty="0"/>
          </a:p>
          <a:p>
            <a:pPr marL="197485" marR="610235">
              <a:lnSpc>
                <a:spcPct val="100000"/>
              </a:lnSpc>
              <a:spcBef>
                <a:spcPts val="70"/>
              </a:spcBef>
            </a:pPr>
            <a:r>
              <a:rPr lang="en-US" sz="2000" b="1" dirty="0"/>
              <a:t>     </a:t>
            </a:r>
            <a:r>
              <a:rPr lang="en-IN" sz="2000" dirty="0">
                <a:hlinkClick r:id="rId3"/>
              </a:rPr>
              <a:t>NikitaNikam1 (Nikita Nikam) · GitHub</a:t>
            </a:r>
            <a:endParaRPr lang="en-US" sz="2000" dirty="0"/>
          </a:p>
          <a:p>
            <a:pPr marL="197485" marR="610235">
              <a:spcBef>
                <a:spcPts val="70"/>
              </a:spcBef>
            </a:pPr>
            <a:endParaRPr lang="en-US" sz="2000" b="1" dirty="0">
              <a:latin typeface="Arial MT"/>
              <a:cs typeface="Arial MT"/>
            </a:endParaRPr>
          </a:p>
          <a:p>
            <a:pPr marL="540385" marR="610235" indent="-342900">
              <a:spcBef>
                <a:spcPts val="70"/>
              </a:spcBef>
              <a:buFont typeface="Arial" panose="020B0604020202020204" pitchFamily="34" charset="0"/>
              <a:buChar char="•"/>
            </a:pPr>
            <a:endParaRPr lang="en-US" sz="2000" b="1" dirty="0">
              <a:solidFill>
                <a:schemeClr val="tx1"/>
              </a:solidFill>
              <a:latin typeface="Arial MT"/>
              <a:cs typeface="Arial MT"/>
            </a:endParaRPr>
          </a:p>
          <a:p>
            <a:pPr marL="540385" marR="610235" indent="-342900">
              <a:spcBef>
                <a:spcPts val="70"/>
              </a:spcBef>
              <a:buFont typeface="Arial" panose="020B0604020202020204" pitchFamily="34" charset="0"/>
              <a:buChar char="•"/>
            </a:pPr>
            <a:endParaRPr lang="en-US" sz="2000" b="1" dirty="0">
              <a:latin typeface="Arial MT"/>
              <a:cs typeface="Arial MT"/>
            </a:endParaRPr>
          </a:p>
        </p:txBody>
      </p:sp>
      <p:sp>
        <p:nvSpPr>
          <p:cNvPr id="3" name="object 3"/>
          <p:cNvSpPr txBox="1">
            <a:spLocks noGrp="1"/>
          </p:cNvSpPr>
          <p:nvPr>
            <p:ph type="title"/>
          </p:nvPr>
        </p:nvSpPr>
        <p:spPr>
          <a:xfrm>
            <a:off x="533400" y="304800"/>
            <a:ext cx="2819400" cy="570669"/>
          </a:xfrm>
          <a:prstGeom prst="rect">
            <a:avLst/>
          </a:prstGeom>
        </p:spPr>
        <p:txBody>
          <a:bodyPr vert="horz" wrap="square" lIns="0" tIns="16510" rIns="0" bIns="0" rtlCol="0">
            <a:spAutoFit/>
          </a:bodyPr>
          <a:lstStyle/>
          <a:p>
            <a:pPr marL="12700">
              <a:lnSpc>
                <a:spcPct val="100000"/>
              </a:lnSpc>
              <a:spcBef>
                <a:spcPts val="130"/>
              </a:spcBef>
            </a:pPr>
            <a:r>
              <a:rPr sz="3600" spc="-90" dirty="0">
                <a:solidFill>
                  <a:srgbClr val="C00000"/>
                </a:solidFill>
                <a:latin typeface="Tahoma"/>
                <a:cs typeface="Tahoma"/>
              </a:rPr>
              <a:t>About</a:t>
            </a:r>
            <a:r>
              <a:rPr sz="3600" spc="-315" dirty="0">
                <a:solidFill>
                  <a:srgbClr val="C00000"/>
                </a:solidFill>
                <a:latin typeface="Tahoma"/>
                <a:cs typeface="Tahoma"/>
              </a:rPr>
              <a:t> </a:t>
            </a:r>
            <a:r>
              <a:rPr sz="3600" spc="-90" dirty="0">
                <a:solidFill>
                  <a:srgbClr val="C00000"/>
                </a:solidFill>
                <a:latin typeface="Tahoma"/>
                <a:cs typeface="Tahoma"/>
              </a:rPr>
              <a:t>me</a:t>
            </a:r>
            <a:endParaRPr sz="3600" dirty="0">
              <a:solidFill>
                <a:srgbClr val="C00000"/>
              </a:solidFill>
              <a:latin typeface="Tahoma"/>
              <a:cs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600" y="47942"/>
            <a:ext cx="11830685" cy="839396"/>
          </a:xfrm>
          <a:prstGeom prst="rect">
            <a:avLst/>
          </a:prstGeom>
        </p:spPr>
        <p:txBody>
          <a:bodyPr vert="horz" wrap="square" lIns="0" tIns="221678" rIns="0" bIns="0" rtlCol="0">
            <a:spAutoFit/>
          </a:bodyPr>
          <a:lstStyle/>
          <a:p>
            <a:pPr marL="192405">
              <a:lnSpc>
                <a:spcPct val="100000"/>
              </a:lnSpc>
              <a:spcBef>
                <a:spcPts val="130"/>
              </a:spcBef>
            </a:pPr>
            <a:r>
              <a:rPr sz="4000" spc="-10" dirty="0">
                <a:solidFill>
                  <a:srgbClr val="C00000"/>
                </a:solidFill>
              </a:rPr>
              <a:t>Agenda</a:t>
            </a:r>
            <a:endParaRPr sz="4000" dirty="0">
              <a:solidFill>
                <a:srgbClr val="C00000"/>
              </a:solidFill>
            </a:endParaRPr>
          </a:p>
        </p:txBody>
      </p:sp>
      <p:sp>
        <p:nvSpPr>
          <p:cNvPr id="3" name="object 3"/>
          <p:cNvSpPr txBox="1">
            <a:spLocks noGrp="1"/>
          </p:cNvSpPr>
          <p:nvPr>
            <p:ph type="body" idx="1"/>
          </p:nvPr>
        </p:nvSpPr>
        <p:spPr>
          <a:xfrm>
            <a:off x="829627" y="1368361"/>
            <a:ext cx="6562725" cy="3701012"/>
          </a:xfrm>
          <a:prstGeom prst="rect">
            <a:avLst/>
          </a:prstGeom>
        </p:spPr>
        <p:txBody>
          <a:bodyPr vert="horz" wrap="square" lIns="0" tIns="104139" rIns="0" bIns="0" rtlCol="0">
            <a:spAutoFit/>
          </a:bodyPr>
          <a:lstStyle/>
          <a:p>
            <a:pPr marL="398145" indent="-385445">
              <a:lnSpc>
                <a:spcPct val="100000"/>
              </a:lnSpc>
              <a:spcBef>
                <a:spcPts val="819"/>
              </a:spcBef>
              <a:buFont typeface="Arial MT"/>
              <a:buChar char="•"/>
              <a:tabLst>
                <a:tab pos="398145" algn="l"/>
              </a:tabLst>
            </a:pPr>
            <a:r>
              <a:rPr lang="en-US" spc="-20" dirty="0"/>
              <a:t>Real World Scenarios</a:t>
            </a:r>
          </a:p>
          <a:p>
            <a:pPr marL="398145" indent="-385445">
              <a:lnSpc>
                <a:spcPct val="100000"/>
              </a:lnSpc>
              <a:spcBef>
                <a:spcPts val="819"/>
              </a:spcBef>
              <a:buFont typeface="Arial MT"/>
              <a:buChar char="•"/>
              <a:tabLst>
                <a:tab pos="398145" algn="l"/>
              </a:tabLst>
            </a:pPr>
            <a:r>
              <a:rPr spc="-20" dirty="0"/>
              <a:t>Objective</a:t>
            </a:r>
            <a:r>
              <a:rPr spc="-90" dirty="0"/>
              <a:t> </a:t>
            </a:r>
            <a:r>
              <a:rPr dirty="0"/>
              <a:t>of</a:t>
            </a:r>
            <a:r>
              <a:rPr spc="-50" dirty="0"/>
              <a:t> </a:t>
            </a:r>
            <a:r>
              <a:rPr dirty="0"/>
              <a:t>the</a:t>
            </a:r>
            <a:r>
              <a:rPr spc="-30" dirty="0"/>
              <a:t> </a:t>
            </a:r>
            <a:r>
              <a:rPr spc="-10" dirty="0"/>
              <a:t>Project</a:t>
            </a:r>
          </a:p>
          <a:p>
            <a:pPr marL="398145" indent="-385445">
              <a:lnSpc>
                <a:spcPct val="100000"/>
              </a:lnSpc>
              <a:spcBef>
                <a:spcPts val="725"/>
              </a:spcBef>
              <a:buFont typeface="Arial MT"/>
              <a:buChar char="•"/>
              <a:tabLst>
                <a:tab pos="398145" algn="l"/>
              </a:tabLst>
            </a:pPr>
            <a:r>
              <a:rPr dirty="0"/>
              <a:t>ER</a:t>
            </a:r>
            <a:r>
              <a:rPr spc="-135" dirty="0"/>
              <a:t> </a:t>
            </a:r>
            <a:r>
              <a:rPr dirty="0"/>
              <a:t>Diagram</a:t>
            </a:r>
            <a:r>
              <a:rPr spc="-80" dirty="0"/>
              <a:t> </a:t>
            </a:r>
            <a:r>
              <a:rPr dirty="0"/>
              <a:t>and</a:t>
            </a:r>
            <a:r>
              <a:rPr spc="-100" dirty="0"/>
              <a:t> </a:t>
            </a:r>
            <a:r>
              <a:rPr dirty="0"/>
              <a:t>schema</a:t>
            </a:r>
            <a:r>
              <a:rPr spc="-135" dirty="0"/>
              <a:t> </a:t>
            </a:r>
            <a:r>
              <a:rPr spc="-10" dirty="0"/>
              <a:t>explanation</a:t>
            </a:r>
          </a:p>
          <a:p>
            <a:pPr marL="393700" indent="-381000">
              <a:lnSpc>
                <a:spcPct val="100000"/>
              </a:lnSpc>
              <a:spcBef>
                <a:spcPts val="725"/>
              </a:spcBef>
              <a:buSzPct val="58333"/>
              <a:buChar char="●"/>
              <a:tabLst>
                <a:tab pos="393700" algn="l"/>
              </a:tabLst>
            </a:pPr>
            <a:r>
              <a:rPr dirty="0"/>
              <a:t>Key</a:t>
            </a:r>
            <a:r>
              <a:rPr spc="-90" dirty="0"/>
              <a:t> </a:t>
            </a:r>
            <a:r>
              <a:rPr spc="-10" dirty="0"/>
              <a:t>analysis</a:t>
            </a:r>
            <a:r>
              <a:rPr spc="-105" dirty="0"/>
              <a:t> </a:t>
            </a:r>
            <a:r>
              <a:rPr spc="-10" dirty="0"/>
              <a:t>questions</a:t>
            </a:r>
          </a:p>
          <a:p>
            <a:pPr marL="398145" indent="-385445">
              <a:lnSpc>
                <a:spcPct val="100000"/>
              </a:lnSpc>
              <a:spcBef>
                <a:spcPts val="725"/>
              </a:spcBef>
              <a:buFont typeface="Arial MT"/>
              <a:buChar char="•"/>
              <a:tabLst>
                <a:tab pos="398145" algn="l"/>
              </a:tabLst>
            </a:pPr>
            <a:r>
              <a:rPr dirty="0"/>
              <a:t>SQL</a:t>
            </a:r>
            <a:r>
              <a:rPr spc="-65" dirty="0"/>
              <a:t> </a:t>
            </a:r>
            <a:r>
              <a:rPr dirty="0"/>
              <a:t>query</a:t>
            </a:r>
            <a:r>
              <a:rPr spc="-85" dirty="0"/>
              <a:t> </a:t>
            </a:r>
            <a:r>
              <a:rPr dirty="0"/>
              <a:t>results</a:t>
            </a:r>
            <a:r>
              <a:rPr spc="-95" dirty="0"/>
              <a:t> </a:t>
            </a:r>
            <a:r>
              <a:rPr dirty="0"/>
              <a:t>with</a:t>
            </a:r>
            <a:r>
              <a:rPr spc="-85" dirty="0"/>
              <a:t> </a:t>
            </a:r>
            <a:r>
              <a:rPr spc="-20" dirty="0"/>
              <a:t>screenshots</a:t>
            </a:r>
            <a:r>
              <a:rPr spc="-60" dirty="0"/>
              <a:t> </a:t>
            </a:r>
            <a:r>
              <a:rPr dirty="0"/>
              <a:t>or</a:t>
            </a:r>
            <a:r>
              <a:rPr spc="-60" dirty="0"/>
              <a:t> </a:t>
            </a:r>
            <a:r>
              <a:rPr spc="-10" dirty="0"/>
              <a:t>summaries</a:t>
            </a:r>
          </a:p>
          <a:p>
            <a:pPr marL="398145" indent="-385445">
              <a:lnSpc>
                <a:spcPct val="100000"/>
              </a:lnSpc>
              <a:spcBef>
                <a:spcPts val="725"/>
              </a:spcBef>
              <a:buFont typeface="Arial MT"/>
              <a:buChar char="•"/>
              <a:tabLst>
                <a:tab pos="398145" algn="l"/>
              </a:tabLst>
            </a:pPr>
            <a:r>
              <a:rPr dirty="0"/>
              <a:t>Final</a:t>
            </a:r>
            <a:r>
              <a:rPr spc="-135" dirty="0"/>
              <a:t> </a:t>
            </a:r>
            <a:r>
              <a:rPr dirty="0"/>
              <a:t>business</a:t>
            </a:r>
            <a:r>
              <a:rPr spc="-90" dirty="0"/>
              <a:t> </a:t>
            </a:r>
            <a:r>
              <a:rPr dirty="0"/>
              <a:t>insights</a:t>
            </a:r>
            <a:r>
              <a:rPr spc="-105" dirty="0"/>
              <a:t> </a:t>
            </a:r>
            <a:r>
              <a:rPr dirty="0"/>
              <a:t>and</a:t>
            </a:r>
            <a:r>
              <a:rPr spc="-105" dirty="0"/>
              <a:t> </a:t>
            </a:r>
            <a:r>
              <a:rPr spc="-10" dirty="0"/>
              <a:t>recommendations</a:t>
            </a:r>
          </a:p>
          <a:p>
            <a:pPr marL="398145" indent="-385445">
              <a:lnSpc>
                <a:spcPct val="100000"/>
              </a:lnSpc>
              <a:spcBef>
                <a:spcPts val="650"/>
              </a:spcBef>
              <a:buFont typeface="Arial MT"/>
              <a:buChar char="•"/>
              <a:tabLst>
                <a:tab pos="398145" algn="l"/>
              </a:tabLst>
            </a:pPr>
            <a:r>
              <a:rPr spc="-10" dirty="0"/>
              <a:t>Conclusion</a:t>
            </a:r>
          </a:p>
          <a:p>
            <a:pPr marL="12700">
              <a:lnSpc>
                <a:spcPct val="100000"/>
              </a:lnSpc>
              <a:spcBef>
                <a:spcPts val="725"/>
              </a:spcBef>
              <a:tabLst>
                <a:tab pos="398145" algn="l"/>
              </a:tabLst>
            </a:pPr>
            <a:endParaRPr spc="-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EB989-87D8-817B-A47E-8D95083A5409}"/>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81C92691-C4BD-926E-11B3-5CF940E92FAB}"/>
              </a:ext>
            </a:extLst>
          </p:cNvPr>
          <p:cNvSpPr txBox="1"/>
          <p:nvPr/>
        </p:nvSpPr>
        <p:spPr>
          <a:xfrm>
            <a:off x="152400" y="152400"/>
            <a:ext cx="7467600" cy="584775"/>
          </a:xfrm>
          <a:prstGeom prst="rect">
            <a:avLst/>
          </a:prstGeom>
          <a:noFill/>
        </p:spPr>
        <p:txBody>
          <a:bodyPr wrap="square" rtlCol="0">
            <a:spAutoFit/>
          </a:bodyPr>
          <a:lstStyle/>
          <a:p>
            <a:r>
              <a:rPr lang="en-US" sz="3200" b="1" dirty="0">
                <a:solidFill>
                  <a:srgbClr val="C00000"/>
                </a:solidFill>
              </a:rPr>
              <a:t>Problem Statement </a:t>
            </a:r>
            <a:endParaRPr lang="en-IN" sz="3200" b="1" dirty="0">
              <a:solidFill>
                <a:srgbClr val="C00000"/>
              </a:solidFill>
            </a:endParaRPr>
          </a:p>
        </p:txBody>
      </p:sp>
      <p:sp>
        <p:nvSpPr>
          <p:cNvPr id="14" name="TextBox 13">
            <a:extLst>
              <a:ext uri="{FF2B5EF4-FFF2-40B4-BE49-F238E27FC236}">
                <a16:creationId xmlns:a16="http://schemas.microsoft.com/office/drawing/2014/main" id="{2BE3C9E2-0E42-CD54-762D-04E72CDB9D0F}"/>
              </a:ext>
            </a:extLst>
          </p:cNvPr>
          <p:cNvSpPr txBox="1"/>
          <p:nvPr/>
        </p:nvSpPr>
        <p:spPr>
          <a:xfrm>
            <a:off x="304800" y="762000"/>
            <a:ext cx="11582400" cy="1938992"/>
          </a:xfrm>
          <a:prstGeom prst="rect">
            <a:avLst/>
          </a:prstGeom>
          <a:noFill/>
        </p:spPr>
        <p:txBody>
          <a:bodyPr wrap="square" rtlCol="0">
            <a:spAutoFit/>
          </a:bodyPr>
          <a:lstStyle/>
          <a:p>
            <a:pPr algn="just"/>
            <a:r>
              <a:rPr lang="en-US" sz="2000" dirty="0"/>
              <a:t>Retail businesses generate large volumes of transactional data, but without proper analysis, this data cannot be effectively used for decision-making. </a:t>
            </a:r>
          </a:p>
          <a:p>
            <a:pPr algn="just"/>
            <a:endParaRPr lang="en-US" sz="2000" dirty="0"/>
          </a:p>
          <a:p>
            <a:pPr algn="just"/>
            <a:r>
              <a:rPr lang="en-US" sz="2000" dirty="0"/>
              <a:t>The challenge is to transform raw retail data into meaningful insights that help management understand customer behavior, sales performance, product demand, logistics efficiency, and revenue trends.</a:t>
            </a:r>
            <a:endParaRPr lang="en-IN" sz="20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F7E3A168-692F-8964-8CA6-35E09078F228}"/>
              </a:ext>
            </a:extLst>
          </p:cNvPr>
          <p:cNvSpPr txBox="1"/>
          <p:nvPr/>
        </p:nvSpPr>
        <p:spPr>
          <a:xfrm>
            <a:off x="182526" y="2971800"/>
            <a:ext cx="7467600" cy="584775"/>
          </a:xfrm>
          <a:prstGeom prst="rect">
            <a:avLst/>
          </a:prstGeom>
          <a:noFill/>
        </p:spPr>
        <p:txBody>
          <a:bodyPr wrap="square" rtlCol="0">
            <a:spAutoFit/>
          </a:bodyPr>
          <a:lstStyle/>
          <a:p>
            <a:r>
              <a:rPr lang="en-US" sz="3200" b="1" dirty="0">
                <a:solidFill>
                  <a:srgbClr val="C00000"/>
                </a:solidFill>
              </a:rPr>
              <a:t>Objective of the project </a:t>
            </a:r>
            <a:endParaRPr lang="en-IN" sz="3200" b="1" dirty="0">
              <a:solidFill>
                <a:srgbClr val="C00000"/>
              </a:solidFill>
            </a:endParaRPr>
          </a:p>
        </p:txBody>
      </p:sp>
      <p:sp>
        <p:nvSpPr>
          <p:cNvPr id="18" name="TextBox 17">
            <a:extLst>
              <a:ext uri="{FF2B5EF4-FFF2-40B4-BE49-F238E27FC236}">
                <a16:creationId xmlns:a16="http://schemas.microsoft.com/office/drawing/2014/main" id="{EE005816-2095-1F08-E66E-55FB1EC6259D}"/>
              </a:ext>
            </a:extLst>
          </p:cNvPr>
          <p:cNvSpPr txBox="1"/>
          <p:nvPr/>
        </p:nvSpPr>
        <p:spPr>
          <a:xfrm>
            <a:off x="182526" y="3765828"/>
            <a:ext cx="11582400" cy="2246769"/>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Arial" panose="020B0604020202020204" pitchFamily="34" charset="0"/>
                <a:cs typeface="Arial" panose="020B0604020202020204" pitchFamily="34" charset="0"/>
              </a:rPr>
              <a:t>Analyze retail business data using SQL to extract meaningful insights</a:t>
            </a:r>
          </a:p>
          <a:p>
            <a:pPr algn="just"/>
            <a:endParaRPr lang="en-US" sz="20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000" dirty="0">
                <a:latin typeface="Arial" panose="020B0604020202020204" pitchFamily="34" charset="0"/>
                <a:cs typeface="Arial" panose="020B0604020202020204" pitchFamily="34" charset="0"/>
              </a:rPr>
              <a:t>Study customer behavior, sales trends, product categories, and seller performance</a:t>
            </a:r>
          </a:p>
          <a:p>
            <a:pPr algn="just"/>
            <a:endParaRPr lang="en-US" sz="20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000" dirty="0">
                <a:latin typeface="Arial" panose="020B0604020202020204" pitchFamily="34" charset="0"/>
                <a:cs typeface="Arial" panose="020B0604020202020204" pitchFamily="34" charset="0"/>
              </a:rPr>
              <a:t>Evaluate order processing, payments, reviews, and delivery efficiency</a:t>
            </a:r>
          </a:p>
          <a:p>
            <a:pPr algn="just"/>
            <a:endParaRPr lang="en-US" sz="20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000" dirty="0">
                <a:latin typeface="Arial" panose="020B0604020202020204" pitchFamily="34" charset="0"/>
                <a:cs typeface="Arial" panose="020B0604020202020204" pitchFamily="34" charset="0"/>
              </a:rPr>
              <a:t>Support data-driven decisions to improve customer experience, operations, and revenue growth</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1322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E70399-6869-0D27-F11A-5CC7F9E39821}"/>
              </a:ext>
            </a:extLst>
          </p:cNvPr>
          <p:cNvSpPr txBox="1"/>
          <p:nvPr/>
        </p:nvSpPr>
        <p:spPr>
          <a:xfrm>
            <a:off x="152400" y="152400"/>
            <a:ext cx="8382000" cy="584775"/>
          </a:xfrm>
          <a:prstGeom prst="rect">
            <a:avLst/>
          </a:prstGeom>
          <a:noFill/>
        </p:spPr>
        <p:txBody>
          <a:bodyPr wrap="square" rtlCol="0">
            <a:spAutoFit/>
          </a:bodyPr>
          <a:lstStyle/>
          <a:p>
            <a:r>
              <a:rPr lang="en-US" sz="3200" b="1" dirty="0">
                <a:solidFill>
                  <a:srgbClr val="C00000"/>
                </a:solidFill>
              </a:rPr>
              <a:t>Why a Relational Database Is Needed</a:t>
            </a:r>
            <a:endParaRPr lang="en-IN" sz="3200" b="1" dirty="0">
              <a:solidFill>
                <a:srgbClr val="C00000"/>
              </a:solidFill>
            </a:endParaRPr>
          </a:p>
        </p:txBody>
      </p:sp>
      <p:sp>
        <p:nvSpPr>
          <p:cNvPr id="3" name="TextBox 2">
            <a:extLst>
              <a:ext uri="{FF2B5EF4-FFF2-40B4-BE49-F238E27FC236}">
                <a16:creationId xmlns:a16="http://schemas.microsoft.com/office/drawing/2014/main" id="{9EB90FF2-2B04-FDC7-379B-E7BEAB05C157}"/>
              </a:ext>
            </a:extLst>
          </p:cNvPr>
          <p:cNvSpPr txBox="1"/>
          <p:nvPr/>
        </p:nvSpPr>
        <p:spPr>
          <a:xfrm>
            <a:off x="304800" y="990600"/>
            <a:ext cx="11430000" cy="4401205"/>
          </a:xfrm>
          <a:prstGeom prst="rect">
            <a:avLst/>
          </a:prstGeom>
          <a:noFill/>
        </p:spPr>
        <p:txBody>
          <a:bodyPr wrap="square" rtlCol="0">
            <a:spAutoFit/>
          </a:bodyPr>
          <a:lstStyle/>
          <a:p>
            <a:pPr algn="just"/>
            <a:r>
              <a:rPr lang="en-US" sz="2000" dirty="0"/>
              <a:t>Data is spread across multiple entities:</a:t>
            </a:r>
          </a:p>
          <a:p>
            <a:pPr algn="just"/>
            <a:endParaRPr lang="en-US" sz="2000" dirty="0"/>
          </a:p>
          <a:p>
            <a:pPr marL="285750" indent="-285750" algn="just">
              <a:buFont typeface="Arial" panose="020B0604020202020204" pitchFamily="34" charset="0"/>
              <a:buChar char="•"/>
            </a:pPr>
            <a:r>
              <a:rPr lang="en-IN" sz="2000" dirty="0"/>
              <a:t>Customers</a:t>
            </a:r>
          </a:p>
          <a:p>
            <a:pPr marL="285750" indent="-285750" algn="just">
              <a:buFont typeface="Arial" panose="020B0604020202020204" pitchFamily="34" charset="0"/>
              <a:buChar char="•"/>
            </a:pPr>
            <a:r>
              <a:rPr lang="en-IN" sz="2000" dirty="0"/>
              <a:t>Orders </a:t>
            </a:r>
          </a:p>
          <a:p>
            <a:pPr marL="285750" indent="-285750" algn="just">
              <a:buFont typeface="Arial" panose="020B0604020202020204" pitchFamily="34" charset="0"/>
              <a:buChar char="•"/>
            </a:pPr>
            <a:r>
              <a:rPr lang="en-IN" sz="2000" dirty="0"/>
              <a:t>Products</a:t>
            </a:r>
          </a:p>
          <a:p>
            <a:pPr marL="285750" indent="-285750" algn="just">
              <a:buFont typeface="Arial" panose="020B0604020202020204" pitchFamily="34" charset="0"/>
              <a:buChar char="•"/>
            </a:pPr>
            <a:r>
              <a:rPr lang="en-IN" sz="2000" dirty="0"/>
              <a:t>Payments</a:t>
            </a:r>
          </a:p>
          <a:p>
            <a:pPr marL="285750" indent="-285750" algn="just">
              <a:buFont typeface="Arial" panose="020B0604020202020204" pitchFamily="34" charset="0"/>
              <a:buChar char="•"/>
            </a:pPr>
            <a:r>
              <a:rPr lang="en-IN" sz="2000" dirty="0"/>
              <a:t>Sellers</a:t>
            </a:r>
          </a:p>
          <a:p>
            <a:pPr marL="285750" indent="-285750" algn="just">
              <a:buFont typeface="Arial" panose="020B0604020202020204" pitchFamily="34" charset="0"/>
              <a:buChar char="•"/>
            </a:pPr>
            <a:r>
              <a:rPr lang="en-IN" sz="2000" dirty="0"/>
              <a:t>Review</a:t>
            </a:r>
          </a:p>
          <a:p>
            <a:pPr marL="285750" indent="-285750" algn="just">
              <a:buFont typeface="Arial" panose="020B0604020202020204" pitchFamily="34" charset="0"/>
              <a:buChar char="•"/>
            </a:pPr>
            <a:endParaRPr lang="en-IN" sz="2000" dirty="0"/>
          </a:p>
          <a:p>
            <a:pPr algn="just"/>
            <a:r>
              <a:rPr lang="en-US" sz="2000" dirty="0"/>
              <a:t>Tables are connected using primary and foreign keys.</a:t>
            </a:r>
          </a:p>
          <a:p>
            <a:pPr algn="just"/>
            <a:endParaRPr lang="en-US" sz="2000" b="1" dirty="0"/>
          </a:p>
          <a:p>
            <a:pPr algn="just"/>
            <a:r>
              <a:rPr lang="en-IN" sz="2000" dirty="0"/>
              <a:t>Enables Data </a:t>
            </a:r>
            <a:r>
              <a:rPr lang="en-IN" sz="2000" dirty="0" err="1"/>
              <a:t>integrity,Efficient</a:t>
            </a:r>
            <a:r>
              <a:rPr lang="en-IN" sz="2000" dirty="0"/>
              <a:t> </a:t>
            </a:r>
            <a:r>
              <a:rPr lang="en-IN" sz="2000" dirty="0" err="1"/>
              <a:t>joins,Scalable</a:t>
            </a:r>
            <a:r>
              <a:rPr lang="en-IN" sz="2000" dirty="0"/>
              <a:t> analysis</a:t>
            </a:r>
          </a:p>
          <a:p>
            <a:pPr algn="just"/>
            <a:endParaRPr lang="en-IN" sz="2000" dirty="0"/>
          </a:p>
          <a:p>
            <a:pPr algn="just"/>
            <a:r>
              <a:rPr lang="en-US" sz="2000" dirty="0"/>
              <a:t>A relational database is ideal because the data has clear relationships between entities.</a:t>
            </a:r>
            <a:endParaRPr lang="en-IN" sz="2000" dirty="0"/>
          </a:p>
        </p:txBody>
      </p:sp>
    </p:spTree>
    <p:extLst>
      <p:ext uri="{BB962C8B-B14F-4D97-AF65-F5344CB8AC3E}">
        <p14:creationId xmlns:p14="http://schemas.microsoft.com/office/powerpoint/2010/main" val="1966830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
          <p:cNvSpPr txBox="1">
            <a:spLocks noGrp="1"/>
          </p:cNvSpPr>
          <p:nvPr>
            <p:ph type="title"/>
          </p:nvPr>
        </p:nvSpPr>
        <p:spPr>
          <a:xfrm>
            <a:off x="180975" y="76200"/>
            <a:ext cx="11830050" cy="1242711"/>
          </a:xfrm>
          <a:prstGeom prst="rect">
            <a:avLst/>
          </a:prstGeom>
        </p:spPr>
        <p:txBody>
          <a:bodyPr vert="horz" wrap="square" lIns="0" tIns="80073" rIns="0" bIns="0" rtlCol="0">
            <a:spAutoFit/>
          </a:bodyPr>
          <a:lstStyle/>
          <a:p>
            <a:pPr marL="12700">
              <a:spcBef>
                <a:spcPts val="725"/>
              </a:spcBef>
              <a:tabLst>
                <a:tab pos="398145" algn="l"/>
              </a:tabLst>
            </a:pPr>
            <a:r>
              <a:rPr lang="en-IN" sz="3600" dirty="0">
                <a:solidFill>
                  <a:srgbClr val="C00000"/>
                </a:solidFill>
              </a:rPr>
              <a:t>ER</a:t>
            </a:r>
            <a:r>
              <a:rPr lang="en-IN" sz="3600" spc="-135" dirty="0">
                <a:solidFill>
                  <a:srgbClr val="C00000"/>
                </a:solidFill>
              </a:rPr>
              <a:t> </a:t>
            </a:r>
            <a:r>
              <a:rPr lang="en-IN" sz="3600" dirty="0">
                <a:solidFill>
                  <a:srgbClr val="C00000"/>
                </a:solidFill>
              </a:rPr>
              <a:t>Diagram</a:t>
            </a:r>
            <a:r>
              <a:rPr lang="en-IN" sz="3600" spc="-80" dirty="0">
                <a:solidFill>
                  <a:srgbClr val="C00000"/>
                </a:solidFill>
              </a:rPr>
              <a:t> </a:t>
            </a:r>
            <a:r>
              <a:rPr lang="en-IN" sz="3600" dirty="0">
                <a:solidFill>
                  <a:srgbClr val="C00000"/>
                </a:solidFill>
              </a:rPr>
              <a:t>and</a:t>
            </a:r>
            <a:r>
              <a:rPr lang="en-IN" sz="3600" spc="-100" dirty="0">
                <a:solidFill>
                  <a:srgbClr val="C00000"/>
                </a:solidFill>
              </a:rPr>
              <a:t> </a:t>
            </a:r>
            <a:r>
              <a:rPr lang="en-IN" sz="3600" dirty="0">
                <a:solidFill>
                  <a:srgbClr val="C00000"/>
                </a:solidFill>
              </a:rPr>
              <a:t>schema</a:t>
            </a:r>
            <a:r>
              <a:rPr lang="en-IN" sz="3600" spc="-135" dirty="0">
                <a:solidFill>
                  <a:srgbClr val="C00000"/>
                </a:solidFill>
              </a:rPr>
              <a:t> </a:t>
            </a:r>
            <a:r>
              <a:rPr lang="en-IN" sz="3600" spc="-10" dirty="0">
                <a:solidFill>
                  <a:srgbClr val="C00000"/>
                </a:solidFill>
              </a:rPr>
              <a:t>explanation</a:t>
            </a:r>
            <a:br>
              <a:rPr lang="en-IN" spc="-10" dirty="0"/>
            </a:br>
            <a:r>
              <a:rPr lang="en-IN" dirty="0"/>
              <a:t>  </a:t>
            </a:r>
            <a:endParaRPr lang="en-IN" spc="-10" dirty="0"/>
          </a:p>
        </p:txBody>
      </p:sp>
      <p:pic>
        <p:nvPicPr>
          <p:cNvPr id="10" name="Picture 9" descr="A screenshot of a computer&#10;&#10;AI-generated content may be incorrect.">
            <a:extLst>
              <a:ext uri="{FF2B5EF4-FFF2-40B4-BE49-F238E27FC236}">
                <a16:creationId xmlns:a16="http://schemas.microsoft.com/office/drawing/2014/main" id="{EC904869-27AF-2517-6F3E-7AE3BAB36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990600"/>
            <a:ext cx="7620000" cy="5562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400" y="15393"/>
            <a:ext cx="6985634" cy="570669"/>
          </a:xfrm>
          <a:prstGeom prst="rect">
            <a:avLst/>
          </a:prstGeom>
        </p:spPr>
        <p:txBody>
          <a:bodyPr vert="horz" wrap="square" lIns="0" tIns="16510" rIns="0" bIns="0" rtlCol="0">
            <a:spAutoFit/>
          </a:bodyPr>
          <a:lstStyle/>
          <a:p>
            <a:pPr marL="12700">
              <a:lnSpc>
                <a:spcPct val="100000"/>
              </a:lnSpc>
              <a:spcBef>
                <a:spcPts val="130"/>
              </a:spcBef>
            </a:pPr>
            <a:r>
              <a:rPr sz="3600" b="1" dirty="0">
                <a:solidFill>
                  <a:srgbClr val="C00000"/>
                </a:solidFill>
                <a:latin typeface="Calibri"/>
                <a:cs typeface="Calibri"/>
              </a:rPr>
              <a:t>SQL</a:t>
            </a:r>
            <a:r>
              <a:rPr sz="3600" b="1" spc="35" dirty="0">
                <a:solidFill>
                  <a:srgbClr val="C00000"/>
                </a:solidFill>
                <a:latin typeface="Calibri"/>
                <a:cs typeface="Calibri"/>
              </a:rPr>
              <a:t> </a:t>
            </a:r>
            <a:r>
              <a:rPr sz="3600" b="1" dirty="0">
                <a:solidFill>
                  <a:srgbClr val="C00000"/>
                </a:solidFill>
                <a:latin typeface="Calibri"/>
                <a:cs typeface="Calibri"/>
              </a:rPr>
              <a:t>query</a:t>
            </a:r>
            <a:r>
              <a:rPr sz="3600" b="1" spc="80" dirty="0">
                <a:solidFill>
                  <a:srgbClr val="C00000"/>
                </a:solidFill>
                <a:latin typeface="Calibri"/>
                <a:cs typeface="Calibri"/>
              </a:rPr>
              <a:t> </a:t>
            </a:r>
            <a:r>
              <a:rPr sz="3600" b="1" dirty="0">
                <a:solidFill>
                  <a:srgbClr val="C00000"/>
                </a:solidFill>
                <a:latin typeface="Calibri"/>
                <a:cs typeface="Calibri"/>
              </a:rPr>
              <a:t>result</a:t>
            </a:r>
            <a:endParaRPr sz="3600" dirty="0">
              <a:solidFill>
                <a:srgbClr val="C00000"/>
              </a:solidFill>
              <a:latin typeface="Calibri"/>
              <a:cs typeface="Calibri"/>
            </a:endParaRPr>
          </a:p>
        </p:txBody>
      </p:sp>
      <p:sp>
        <p:nvSpPr>
          <p:cNvPr id="3" name="object 3"/>
          <p:cNvSpPr txBox="1"/>
          <p:nvPr/>
        </p:nvSpPr>
        <p:spPr>
          <a:xfrm>
            <a:off x="0" y="919750"/>
            <a:ext cx="6773863" cy="382156"/>
          </a:xfrm>
          <a:prstGeom prst="rect">
            <a:avLst/>
          </a:prstGeom>
        </p:spPr>
        <p:txBody>
          <a:bodyPr vert="horz" wrap="square" lIns="0" tIns="12700" rIns="0" bIns="0" rtlCol="0">
            <a:spAutoFit/>
          </a:bodyPr>
          <a:lstStyle/>
          <a:p>
            <a:pPr marL="12700">
              <a:lnSpc>
                <a:spcPct val="100000"/>
              </a:lnSpc>
              <a:spcBef>
                <a:spcPts val="100"/>
              </a:spcBef>
            </a:pPr>
            <a:r>
              <a:rPr lang="en-US" sz="2400" dirty="0">
                <a:latin typeface="+mn-lt"/>
              </a:rPr>
              <a:t>   1. What is the total number of unique customers?</a:t>
            </a:r>
            <a:endParaRPr sz="2400" dirty="0">
              <a:latin typeface="+mn-lt"/>
              <a:cs typeface="Calibri"/>
            </a:endParaRPr>
          </a:p>
        </p:txBody>
      </p:sp>
      <p:pic>
        <p:nvPicPr>
          <p:cNvPr id="9" name="Picture 8" descr="A close-up of a computer screen&#10;&#10;AI-generated content may be incorrect.">
            <a:extLst>
              <a:ext uri="{FF2B5EF4-FFF2-40B4-BE49-F238E27FC236}">
                <a16:creationId xmlns:a16="http://schemas.microsoft.com/office/drawing/2014/main" id="{95F9E770-3CB7-A226-B67E-57786D813E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83" y="1417269"/>
            <a:ext cx="5849166" cy="1806746"/>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515AF4F3-E699-104C-0CB6-89B3B7DEFF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555" y="4257880"/>
            <a:ext cx="4648200" cy="1671510"/>
          </a:xfrm>
          <a:prstGeom prst="rect">
            <a:avLst/>
          </a:prstGeom>
        </p:spPr>
      </p:pic>
      <p:sp>
        <p:nvSpPr>
          <p:cNvPr id="12" name="object 3">
            <a:extLst>
              <a:ext uri="{FF2B5EF4-FFF2-40B4-BE49-F238E27FC236}">
                <a16:creationId xmlns:a16="http://schemas.microsoft.com/office/drawing/2014/main" id="{F022908D-0F46-02DD-672F-0160D3626E39}"/>
              </a:ext>
            </a:extLst>
          </p:cNvPr>
          <p:cNvSpPr txBox="1"/>
          <p:nvPr/>
        </p:nvSpPr>
        <p:spPr>
          <a:xfrm>
            <a:off x="152400" y="3621581"/>
            <a:ext cx="1148170" cy="382156"/>
          </a:xfrm>
          <a:prstGeom prst="rect">
            <a:avLst/>
          </a:prstGeom>
        </p:spPr>
        <p:txBody>
          <a:bodyPr vert="horz" wrap="square" lIns="0" tIns="12700" rIns="0" bIns="0" rtlCol="0">
            <a:spAutoFit/>
          </a:bodyPr>
          <a:lstStyle/>
          <a:p>
            <a:pPr marL="12700">
              <a:lnSpc>
                <a:spcPct val="100000"/>
              </a:lnSpc>
              <a:spcBef>
                <a:spcPts val="100"/>
              </a:spcBef>
            </a:pPr>
            <a:r>
              <a:rPr lang="en-US" sz="2400" dirty="0">
                <a:latin typeface="+mn-lt"/>
              </a:rPr>
              <a:t>   result</a:t>
            </a:r>
            <a:endParaRPr sz="2400" dirty="0">
              <a:latin typeface="+mn-lt"/>
              <a:cs typeface="Calibri"/>
            </a:endParaRPr>
          </a:p>
        </p:txBody>
      </p:sp>
      <p:grpSp>
        <p:nvGrpSpPr>
          <p:cNvPr id="15" name="Group 14">
            <a:extLst>
              <a:ext uri="{FF2B5EF4-FFF2-40B4-BE49-F238E27FC236}">
                <a16:creationId xmlns:a16="http://schemas.microsoft.com/office/drawing/2014/main" id="{E8E66BFC-3A63-8540-E8E3-7A4800ED92E2}"/>
              </a:ext>
            </a:extLst>
          </p:cNvPr>
          <p:cNvGrpSpPr/>
          <p:nvPr/>
        </p:nvGrpSpPr>
        <p:grpSpPr>
          <a:xfrm>
            <a:off x="6477000" y="2457912"/>
            <a:ext cx="5344297" cy="1163669"/>
            <a:chOff x="6458766" y="3429000"/>
            <a:chExt cx="5344297" cy="2209800"/>
          </a:xfrm>
        </p:grpSpPr>
        <p:sp>
          <p:nvSpPr>
            <p:cNvPr id="13" name="Rectangle 12">
              <a:extLst>
                <a:ext uri="{FF2B5EF4-FFF2-40B4-BE49-F238E27FC236}">
                  <a16:creationId xmlns:a16="http://schemas.microsoft.com/office/drawing/2014/main" id="{3A8E120D-9295-0CD1-8E93-04A7761C4917}"/>
                </a:ext>
              </a:extLst>
            </p:cNvPr>
            <p:cNvSpPr/>
            <p:nvPr/>
          </p:nvSpPr>
          <p:spPr>
            <a:xfrm>
              <a:off x="6458766" y="3429000"/>
              <a:ext cx="5344297" cy="22098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14" name="TextBox 13">
              <a:extLst>
                <a:ext uri="{FF2B5EF4-FFF2-40B4-BE49-F238E27FC236}">
                  <a16:creationId xmlns:a16="http://schemas.microsoft.com/office/drawing/2014/main" id="{9625FC8E-E9C7-9481-D3F3-FA2C9DC70AED}"/>
                </a:ext>
              </a:extLst>
            </p:cNvPr>
            <p:cNvSpPr txBox="1"/>
            <p:nvPr/>
          </p:nvSpPr>
          <p:spPr>
            <a:xfrm>
              <a:off x="6616314" y="3882204"/>
              <a:ext cx="5029200" cy="1273140"/>
            </a:xfrm>
            <a:prstGeom prst="rect">
              <a:avLst/>
            </a:prstGeom>
            <a:noFill/>
          </p:spPr>
          <p:txBody>
            <a:bodyPr wrap="square" rtlCol="0">
              <a:spAutoFit/>
            </a:bodyPr>
            <a:lstStyle/>
            <a:p>
              <a:pPr marL="342900" indent="-342900">
                <a:buFont typeface="Arial" panose="020B0604020202020204" pitchFamily="34" charset="0"/>
                <a:buChar char="•"/>
              </a:pPr>
              <a:r>
                <a:rPr lang="en-US" sz="2000" dirty="0"/>
                <a:t>This query finds how many different customers are there in total. </a:t>
              </a:r>
            </a:p>
            <a:p>
              <a:endParaRPr lang="en-US" sz="2000" dirty="0"/>
            </a:p>
            <a:p>
              <a:endParaRPr lang="en-IN" dirty="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computer code with text&#10;&#10;AI-generated content may be incorrect.">
            <a:extLst>
              <a:ext uri="{FF2B5EF4-FFF2-40B4-BE49-F238E27FC236}">
                <a16:creationId xmlns:a16="http://schemas.microsoft.com/office/drawing/2014/main" id="{206292F7-F09B-74E6-3552-D5588B80EE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959483"/>
            <a:ext cx="6172200" cy="2784499"/>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25F33590-B2A2-B563-5F38-35946F8D1E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4155653"/>
            <a:ext cx="3410041" cy="2362200"/>
          </a:xfrm>
          <a:prstGeom prst="rect">
            <a:avLst/>
          </a:prstGeom>
        </p:spPr>
      </p:pic>
      <p:sp>
        <p:nvSpPr>
          <p:cNvPr id="11" name="object 2">
            <a:extLst>
              <a:ext uri="{FF2B5EF4-FFF2-40B4-BE49-F238E27FC236}">
                <a16:creationId xmlns:a16="http://schemas.microsoft.com/office/drawing/2014/main" id="{B2E27C79-DAE1-EBF6-90E3-A3498DBAEC17}"/>
              </a:ext>
            </a:extLst>
          </p:cNvPr>
          <p:cNvSpPr txBox="1">
            <a:spLocks/>
          </p:cNvSpPr>
          <p:nvPr/>
        </p:nvSpPr>
        <p:spPr>
          <a:xfrm>
            <a:off x="0" y="-70863"/>
            <a:ext cx="11830685" cy="822020"/>
          </a:xfrm>
          <a:prstGeom prst="rect">
            <a:avLst/>
          </a:prstGeom>
        </p:spPr>
        <p:txBody>
          <a:bodyPr vert="horz" wrap="square" lIns="0" tIns="448310" rIns="0" bIns="0" rtlCol="0">
            <a:spAutoFit/>
          </a:bodyPr>
          <a:lstStyle>
            <a:lvl1pPr>
              <a:defRPr sz="3950" b="1" i="0">
                <a:solidFill>
                  <a:srgbClr val="FF0000"/>
                </a:solidFill>
                <a:latin typeface="Calibri"/>
                <a:ea typeface="+mj-ea"/>
                <a:cs typeface="Calibri"/>
              </a:defRPr>
            </a:lvl1pPr>
          </a:lstStyle>
          <a:p>
            <a:pPr marL="194945">
              <a:spcBef>
                <a:spcPts val="100"/>
              </a:spcBef>
            </a:pPr>
            <a:r>
              <a:rPr lang="en-US" sz="2400" dirty="0">
                <a:solidFill>
                  <a:srgbClr val="C00000"/>
                </a:solidFill>
              </a:rPr>
              <a:t>2. Which are the top 5 states with the highest number of customers?</a:t>
            </a:r>
          </a:p>
        </p:txBody>
      </p:sp>
      <p:sp>
        <p:nvSpPr>
          <p:cNvPr id="14" name="object 3">
            <a:extLst>
              <a:ext uri="{FF2B5EF4-FFF2-40B4-BE49-F238E27FC236}">
                <a16:creationId xmlns:a16="http://schemas.microsoft.com/office/drawing/2014/main" id="{AA28BF60-6F0E-E8BC-EED7-4B0301464B71}"/>
              </a:ext>
            </a:extLst>
          </p:cNvPr>
          <p:cNvSpPr txBox="1"/>
          <p:nvPr/>
        </p:nvSpPr>
        <p:spPr>
          <a:xfrm>
            <a:off x="228600" y="3558103"/>
            <a:ext cx="1148170" cy="382156"/>
          </a:xfrm>
          <a:prstGeom prst="rect">
            <a:avLst/>
          </a:prstGeom>
        </p:spPr>
        <p:txBody>
          <a:bodyPr vert="horz" wrap="square" lIns="0" tIns="12700" rIns="0" bIns="0" rtlCol="0">
            <a:spAutoFit/>
          </a:bodyPr>
          <a:lstStyle/>
          <a:p>
            <a:pPr marL="12700">
              <a:lnSpc>
                <a:spcPct val="100000"/>
              </a:lnSpc>
              <a:spcBef>
                <a:spcPts val="100"/>
              </a:spcBef>
            </a:pPr>
            <a:r>
              <a:rPr lang="en-US" sz="2400" dirty="0">
                <a:latin typeface="+mn-lt"/>
              </a:rPr>
              <a:t>   </a:t>
            </a:r>
            <a:r>
              <a:rPr lang="en-US" sz="2400" b="1" dirty="0">
                <a:solidFill>
                  <a:srgbClr val="C00000"/>
                </a:solidFill>
                <a:latin typeface="+mn-lt"/>
              </a:rPr>
              <a:t>result</a:t>
            </a:r>
            <a:endParaRPr sz="2400" b="1" dirty="0">
              <a:solidFill>
                <a:srgbClr val="C00000"/>
              </a:solidFill>
              <a:latin typeface="+mn-lt"/>
              <a:cs typeface="Calibri"/>
            </a:endParaRPr>
          </a:p>
        </p:txBody>
      </p:sp>
      <p:grpSp>
        <p:nvGrpSpPr>
          <p:cNvPr id="15" name="Group 14">
            <a:extLst>
              <a:ext uri="{FF2B5EF4-FFF2-40B4-BE49-F238E27FC236}">
                <a16:creationId xmlns:a16="http://schemas.microsoft.com/office/drawing/2014/main" id="{B965D94B-8BFF-D9E2-A92A-97E62937EDC1}"/>
              </a:ext>
            </a:extLst>
          </p:cNvPr>
          <p:cNvGrpSpPr/>
          <p:nvPr/>
        </p:nvGrpSpPr>
        <p:grpSpPr>
          <a:xfrm>
            <a:off x="6454422" y="2514600"/>
            <a:ext cx="5344297" cy="1425659"/>
            <a:chOff x="6458766" y="3429000"/>
            <a:chExt cx="5344297" cy="2209800"/>
          </a:xfrm>
        </p:grpSpPr>
        <p:sp>
          <p:nvSpPr>
            <p:cNvPr id="16" name="Rectangle 15">
              <a:extLst>
                <a:ext uri="{FF2B5EF4-FFF2-40B4-BE49-F238E27FC236}">
                  <a16:creationId xmlns:a16="http://schemas.microsoft.com/office/drawing/2014/main" id="{B1D75477-C67B-3952-D20F-344FC089C87B}"/>
                </a:ext>
              </a:extLst>
            </p:cNvPr>
            <p:cNvSpPr/>
            <p:nvPr/>
          </p:nvSpPr>
          <p:spPr>
            <a:xfrm>
              <a:off x="6458766" y="3429000"/>
              <a:ext cx="5344297" cy="22098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17" name="TextBox 16">
              <a:extLst>
                <a:ext uri="{FF2B5EF4-FFF2-40B4-BE49-F238E27FC236}">
                  <a16:creationId xmlns:a16="http://schemas.microsoft.com/office/drawing/2014/main" id="{1936DB14-7BC4-1B2A-5B87-0F77BC7F53B0}"/>
                </a:ext>
              </a:extLst>
            </p:cNvPr>
            <p:cNvSpPr txBox="1"/>
            <p:nvPr/>
          </p:nvSpPr>
          <p:spPr>
            <a:xfrm>
              <a:off x="6616314" y="3635148"/>
              <a:ext cx="5029200" cy="2003652"/>
            </a:xfrm>
            <a:prstGeom prst="rect">
              <a:avLst/>
            </a:prstGeom>
            <a:noFill/>
          </p:spPr>
          <p:txBody>
            <a:bodyPr wrap="square" rtlCol="0">
              <a:spAutoFit/>
            </a:bodyPr>
            <a:lstStyle/>
            <a:p>
              <a:pPr marL="342900" indent="-342900">
                <a:buFont typeface="Arial" panose="020B0604020202020204" pitchFamily="34" charset="0"/>
                <a:buChar char="•"/>
              </a:pPr>
              <a:r>
                <a:rPr lang="en-US" sz="2000" dirty="0"/>
                <a:t>This analysis highlights top5 states (SP,RJ,MG,RS,PR) with the highest customers.</a:t>
              </a:r>
            </a:p>
            <a:p>
              <a:endParaRPr lang="en-IN"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600" y="47942"/>
            <a:ext cx="11830685" cy="667874"/>
          </a:xfrm>
          <a:prstGeom prst="rect">
            <a:avLst/>
          </a:prstGeom>
        </p:spPr>
        <p:txBody>
          <a:bodyPr vert="horz" wrap="square" lIns="0" tIns="295655" rIns="0" bIns="0" rtlCol="0">
            <a:spAutoFit/>
          </a:bodyPr>
          <a:lstStyle/>
          <a:p>
            <a:pPr marL="255270">
              <a:lnSpc>
                <a:spcPct val="100000"/>
              </a:lnSpc>
              <a:spcBef>
                <a:spcPts val="100"/>
              </a:spcBef>
            </a:pPr>
            <a:r>
              <a:rPr lang="en-US" sz="2400" dirty="0">
                <a:solidFill>
                  <a:srgbClr val="C00000"/>
                </a:solidFill>
              </a:rPr>
              <a:t>3. What is the customer retention rate (customers who placed more than one order)?</a:t>
            </a:r>
            <a:endParaRPr sz="2400" dirty="0">
              <a:solidFill>
                <a:srgbClr val="C00000"/>
              </a:solidFill>
            </a:endParaRPr>
          </a:p>
        </p:txBody>
      </p:sp>
      <p:sp>
        <p:nvSpPr>
          <p:cNvPr id="10" name="object 3">
            <a:extLst>
              <a:ext uri="{FF2B5EF4-FFF2-40B4-BE49-F238E27FC236}">
                <a16:creationId xmlns:a16="http://schemas.microsoft.com/office/drawing/2014/main" id="{90E095AC-5ACE-43DE-D59D-9B0422D37AE2}"/>
              </a:ext>
            </a:extLst>
          </p:cNvPr>
          <p:cNvSpPr txBox="1"/>
          <p:nvPr/>
        </p:nvSpPr>
        <p:spPr>
          <a:xfrm>
            <a:off x="335450" y="4159735"/>
            <a:ext cx="1148170" cy="382156"/>
          </a:xfrm>
          <a:prstGeom prst="rect">
            <a:avLst/>
          </a:prstGeom>
        </p:spPr>
        <p:txBody>
          <a:bodyPr vert="horz" wrap="square" lIns="0" tIns="12700" rIns="0" bIns="0" rtlCol="0">
            <a:spAutoFit/>
          </a:bodyPr>
          <a:lstStyle/>
          <a:p>
            <a:pPr marL="12700">
              <a:lnSpc>
                <a:spcPct val="100000"/>
              </a:lnSpc>
              <a:spcBef>
                <a:spcPts val="100"/>
              </a:spcBef>
            </a:pPr>
            <a:r>
              <a:rPr lang="en-US" sz="2400" dirty="0">
                <a:latin typeface="+mn-lt"/>
              </a:rPr>
              <a:t>   </a:t>
            </a:r>
            <a:r>
              <a:rPr lang="en-US" sz="2400" b="1" dirty="0">
                <a:solidFill>
                  <a:srgbClr val="C00000"/>
                </a:solidFill>
                <a:latin typeface="+mn-lt"/>
              </a:rPr>
              <a:t>result</a:t>
            </a:r>
            <a:endParaRPr sz="2400" b="1" dirty="0">
              <a:solidFill>
                <a:srgbClr val="C00000"/>
              </a:solidFill>
              <a:latin typeface="+mn-lt"/>
              <a:cs typeface="Calibri"/>
            </a:endParaRPr>
          </a:p>
        </p:txBody>
      </p:sp>
      <p:grpSp>
        <p:nvGrpSpPr>
          <p:cNvPr id="11" name="Group 10">
            <a:extLst>
              <a:ext uri="{FF2B5EF4-FFF2-40B4-BE49-F238E27FC236}">
                <a16:creationId xmlns:a16="http://schemas.microsoft.com/office/drawing/2014/main" id="{4E4E3BB6-6F2F-4611-4586-3D76BE732A1E}"/>
              </a:ext>
            </a:extLst>
          </p:cNvPr>
          <p:cNvGrpSpPr/>
          <p:nvPr/>
        </p:nvGrpSpPr>
        <p:grpSpPr>
          <a:xfrm>
            <a:off x="6576382" y="2408291"/>
            <a:ext cx="5344297" cy="1630309"/>
            <a:chOff x="6458766" y="3429000"/>
            <a:chExt cx="5344297" cy="3307123"/>
          </a:xfrm>
        </p:grpSpPr>
        <p:sp>
          <p:nvSpPr>
            <p:cNvPr id="12" name="Rectangle 11">
              <a:extLst>
                <a:ext uri="{FF2B5EF4-FFF2-40B4-BE49-F238E27FC236}">
                  <a16:creationId xmlns:a16="http://schemas.microsoft.com/office/drawing/2014/main" id="{C8B3EC80-47E5-020D-6907-60FA0544ED2F}"/>
                </a:ext>
              </a:extLst>
            </p:cNvPr>
            <p:cNvSpPr/>
            <p:nvPr/>
          </p:nvSpPr>
          <p:spPr>
            <a:xfrm>
              <a:off x="6458766" y="3429000"/>
              <a:ext cx="5344297" cy="3307123"/>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13" name="TextBox 12">
              <a:extLst>
                <a:ext uri="{FF2B5EF4-FFF2-40B4-BE49-F238E27FC236}">
                  <a16:creationId xmlns:a16="http://schemas.microsoft.com/office/drawing/2014/main" id="{8E864EE7-614A-500A-75FE-15F13DC7C97F}"/>
                </a:ext>
              </a:extLst>
            </p:cNvPr>
            <p:cNvSpPr txBox="1"/>
            <p:nvPr/>
          </p:nvSpPr>
          <p:spPr>
            <a:xfrm>
              <a:off x="6616314" y="3746749"/>
              <a:ext cx="5029200" cy="1574298"/>
            </a:xfrm>
            <a:prstGeom prst="rect">
              <a:avLst/>
            </a:prstGeom>
            <a:noFill/>
          </p:spPr>
          <p:txBody>
            <a:bodyPr wrap="square" rtlCol="0">
              <a:spAutoFit/>
            </a:bodyPr>
            <a:lstStyle/>
            <a:p>
              <a:pPr marL="342900" indent="-342900">
                <a:buFont typeface="Arial" panose="020B0604020202020204" pitchFamily="34" charset="0"/>
                <a:buChar char="•"/>
              </a:pPr>
              <a:r>
                <a:rPr lang="en-US" sz="2000" dirty="0"/>
                <a:t>This query measures customer retention rate by identifying how many customers placed more than one order.</a:t>
              </a:r>
              <a:endParaRPr lang="en-IN" dirty="0"/>
            </a:p>
          </p:txBody>
        </p:sp>
      </p:grpSp>
      <p:pic>
        <p:nvPicPr>
          <p:cNvPr id="4" name="Picture 3" descr="A computer code with text&#10;&#10;AI-generated content may be incorrect.">
            <a:extLst>
              <a:ext uri="{FF2B5EF4-FFF2-40B4-BE49-F238E27FC236}">
                <a16:creationId xmlns:a16="http://schemas.microsoft.com/office/drawing/2014/main" id="{E71CF2D7-262A-0D01-DDC0-26F697FA04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447" y="1056118"/>
            <a:ext cx="5715495" cy="2642592"/>
          </a:xfrm>
          <a:prstGeom prst="rect">
            <a:avLst/>
          </a:prstGeom>
        </p:spPr>
      </p:pic>
      <p:pic>
        <p:nvPicPr>
          <p:cNvPr id="6" name="Picture 5" descr="A close up of a number&#10;&#10;AI-generated content may be incorrect.">
            <a:extLst>
              <a:ext uri="{FF2B5EF4-FFF2-40B4-BE49-F238E27FC236}">
                <a16:creationId xmlns:a16="http://schemas.microsoft.com/office/drawing/2014/main" id="{CD0A65A4-DADF-9F73-342D-25A76FA820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4891305"/>
            <a:ext cx="2971800" cy="11802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304800"/>
            <a:ext cx="8105458" cy="382156"/>
          </a:xfrm>
          <a:prstGeom prst="rect">
            <a:avLst/>
          </a:prstGeom>
        </p:spPr>
        <p:txBody>
          <a:bodyPr vert="horz" wrap="square" lIns="0" tIns="12700" rIns="0" bIns="0" rtlCol="0">
            <a:spAutoFit/>
          </a:bodyPr>
          <a:lstStyle/>
          <a:p>
            <a:pPr marL="12700">
              <a:lnSpc>
                <a:spcPct val="100000"/>
              </a:lnSpc>
              <a:spcBef>
                <a:spcPts val="100"/>
              </a:spcBef>
              <a:tabLst>
                <a:tab pos="384175" algn="l"/>
              </a:tabLst>
            </a:pPr>
            <a:r>
              <a:rPr lang="en-US" sz="2400" dirty="0">
                <a:solidFill>
                  <a:srgbClr val="C00000"/>
                </a:solidFill>
              </a:rPr>
              <a:t>4. What is the total number of delivered and canceled orders?</a:t>
            </a:r>
            <a:endParaRPr sz="2400" dirty="0">
              <a:solidFill>
                <a:srgbClr val="C00000"/>
              </a:solidFill>
            </a:endParaRPr>
          </a:p>
        </p:txBody>
      </p:sp>
      <p:pic>
        <p:nvPicPr>
          <p:cNvPr id="8" name="Picture 7" descr="A close up of text&#10;&#10;AI-generated content may be incorrect.">
            <a:extLst>
              <a:ext uri="{FF2B5EF4-FFF2-40B4-BE49-F238E27FC236}">
                <a16:creationId xmlns:a16="http://schemas.microsoft.com/office/drawing/2014/main" id="{3305B634-4F82-1628-A45E-EF8251B34D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838200"/>
            <a:ext cx="5638800" cy="2209800"/>
          </a:xfrm>
          <a:prstGeom prst="rect">
            <a:avLst/>
          </a:prstGeom>
        </p:spPr>
      </p:pic>
      <p:sp>
        <p:nvSpPr>
          <p:cNvPr id="9" name="object 3">
            <a:extLst>
              <a:ext uri="{FF2B5EF4-FFF2-40B4-BE49-F238E27FC236}">
                <a16:creationId xmlns:a16="http://schemas.microsoft.com/office/drawing/2014/main" id="{8B2DFEE2-9D4D-96DB-ED69-62622C46DFFE}"/>
              </a:ext>
            </a:extLst>
          </p:cNvPr>
          <p:cNvSpPr txBox="1"/>
          <p:nvPr/>
        </p:nvSpPr>
        <p:spPr>
          <a:xfrm>
            <a:off x="228600" y="3558103"/>
            <a:ext cx="1148170" cy="382156"/>
          </a:xfrm>
          <a:prstGeom prst="rect">
            <a:avLst/>
          </a:prstGeom>
        </p:spPr>
        <p:txBody>
          <a:bodyPr vert="horz" wrap="square" lIns="0" tIns="12700" rIns="0" bIns="0" rtlCol="0">
            <a:spAutoFit/>
          </a:bodyPr>
          <a:lstStyle/>
          <a:p>
            <a:pPr marL="12700">
              <a:lnSpc>
                <a:spcPct val="100000"/>
              </a:lnSpc>
              <a:spcBef>
                <a:spcPts val="100"/>
              </a:spcBef>
            </a:pPr>
            <a:r>
              <a:rPr lang="en-US" sz="2400" dirty="0">
                <a:latin typeface="+mn-lt"/>
              </a:rPr>
              <a:t>   </a:t>
            </a:r>
            <a:r>
              <a:rPr lang="en-US" sz="2400" b="1" dirty="0">
                <a:solidFill>
                  <a:srgbClr val="C00000"/>
                </a:solidFill>
                <a:latin typeface="+mn-lt"/>
              </a:rPr>
              <a:t>result</a:t>
            </a:r>
            <a:endParaRPr sz="2400" b="1" dirty="0">
              <a:solidFill>
                <a:srgbClr val="C00000"/>
              </a:solidFill>
              <a:latin typeface="+mn-lt"/>
              <a:cs typeface="Calibri"/>
            </a:endParaRPr>
          </a:p>
        </p:txBody>
      </p:sp>
      <p:pic>
        <p:nvPicPr>
          <p:cNvPr id="13" name="Picture 12" descr="A screenshot of a computer&#10;&#10;AI-generated content may be incorrect.">
            <a:extLst>
              <a:ext uri="{FF2B5EF4-FFF2-40B4-BE49-F238E27FC236}">
                <a16:creationId xmlns:a16="http://schemas.microsoft.com/office/drawing/2014/main" id="{5F29BDB0-503A-34B3-2396-AFD8FDA59C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4191000"/>
            <a:ext cx="3505200" cy="1981200"/>
          </a:xfrm>
          <a:prstGeom prst="rect">
            <a:avLst/>
          </a:prstGeom>
        </p:spPr>
      </p:pic>
      <p:grpSp>
        <p:nvGrpSpPr>
          <p:cNvPr id="14" name="Group 13">
            <a:extLst>
              <a:ext uri="{FF2B5EF4-FFF2-40B4-BE49-F238E27FC236}">
                <a16:creationId xmlns:a16="http://schemas.microsoft.com/office/drawing/2014/main" id="{20DF3CD5-C686-DF7E-1EB0-BD0283F8C24D}"/>
              </a:ext>
            </a:extLst>
          </p:cNvPr>
          <p:cNvGrpSpPr/>
          <p:nvPr/>
        </p:nvGrpSpPr>
        <p:grpSpPr>
          <a:xfrm>
            <a:off x="6454422" y="2514600"/>
            <a:ext cx="5344297" cy="1425659"/>
            <a:chOff x="6458766" y="3429000"/>
            <a:chExt cx="5344297" cy="3307123"/>
          </a:xfrm>
        </p:grpSpPr>
        <p:sp>
          <p:nvSpPr>
            <p:cNvPr id="15" name="Rectangle 14">
              <a:extLst>
                <a:ext uri="{FF2B5EF4-FFF2-40B4-BE49-F238E27FC236}">
                  <a16:creationId xmlns:a16="http://schemas.microsoft.com/office/drawing/2014/main" id="{290E6546-4548-2AEC-D43B-4CBBC675A31A}"/>
                </a:ext>
              </a:extLst>
            </p:cNvPr>
            <p:cNvSpPr/>
            <p:nvPr/>
          </p:nvSpPr>
          <p:spPr>
            <a:xfrm>
              <a:off x="6458766" y="3429000"/>
              <a:ext cx="5344297" cy="3307123"/>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16" name="TextBox 15">
              <a:extLst>
                <a:ext uri="{FF2B5EF4-FFF2-40B4-BE49-F238E27FC236}">
                  <a16:creationId xmlns:a16="http://schemas.microsoft.com/office/drawing/2014/main" id="{2D3ADD0B-87B1-BE57-7847-22A337FC8C30}"/>
                </a:ext>
              </a:extLst>
            </p:cNvPr>
            <p:cNvSpPr txBox="1"/>
            <p:nvPr/>
          </p:nvSpPr>
          <p:spPr>
            <a:xfrm>
              <a:off x="6616314" y="3746749"/>
              <a:ext cx="5029200" cy="1574298"/>
            </a:xfrm>
            <a:prstGeom prst="rect">
              <a:avLst/>
            </a:prstGeom>
            <a:noFill/>
          </p:spPr>
          <p:txBody>
            <a:bodyPr wrap="square" rtlCol="0">
              <a:spAutoFit/>
            </a:bodyPr>
            <a:lstStyle/>
            <a:p>
              <a:pPr marL="342900" indent="-342900">
                <a:buFont typeface="Arial" panose="020B0604020202020204" pitchFamily="34" charset="0"/>
                <a:buChar char="•"/>
              </a:pPr>
              <a:r>
                <a:rPr lang="en-US" sz="2000" dirty="0"/>
                <a:t>This query compares successful deliveries against cancellations to assess operational efficiency.</a:t>
              </a:r>
              <a:endParaRPr lang="en-IN"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6217" y="330898"/>
            <a:ext cx="5574983" cy="382156"/>
          </a:xfrm>
          <a:prstGeom prst="rect">
            <a:avLst/>
          </a:prstGeom>
        </p:spPr>
        <p:txBody>
          <a:bodyPr vert="horz" wrap="square" lIns="0" tIns="12700" rIns="0" bIns="0" rtlCol="0">
            <a:spAutoFit/>
          </a:bodyPr>
          <a:lstStyle/>
          <a:p>
            <a:pPr marL="80645">
              <a:lnSpc>
                <a:spcPct val="100000"/>
              </a:lnSpc>
              <a:spcBef>
                <a:spcPts val="100"/>
              </a:spcBef>
            </a:pPr>
            <a:r>
              <a:rPr lang="en-US" sz="2400" b="1" dirty="0">
                <a:solidFill>
                  <a:srgbClr val="C00000"/>
                </a:solidFill>
                <a:latin typeface="+mn-lt"/>
              </a:rPr>
              <a:t>5. What is the average delivery time?</a:t>
            </a:r>
            <a:endParaRPr sz="2400" b="1" dirty="0">
              <a:solidFill>
                <a:srgbClr val="C00000"/>
              </a:solidFill>
              <a:latin typeface="+mn-lt"/>
              <a:cs typeface="Calibri"/>
            </a:endParaRPr>
          </a:p>
        </p:txBody>
      </p:sp>
      <p:pic>
        <p:nvPicPr>
          <p:cNvPr id="8" name="Picture 7" descr="A close-up of a computer screen&#10;&#10;AI-generated content may be incorrect.">
            <a:extLst>
              <a:ext uri="{FF2B5EF4-FFF2-40B4-BE49-F238E27FC236}">
                <a16:creationId xmlns:a16="http://schemas.microsoft.com/office/drawing/2014/main" id="{E85AA252-6224-2552-9B95-AE421603D0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217" y="1080556"/>
            <a:ext cx="6477000" cy="2438400"/>
          </a:xfrm>
          <a:prstGeom prst="rect">
            <a:avLst/>
          </a:prstGeom>
        </p:spPr>
      </p:pic>
      <p:pic>
        <p:nvPicPr>
          <p:cNvPr id="10" name="Picture 9" descr="A screen shot of a computer&#10;&#10;AI-generated content may be incorrect.">
            <a:extLst>
              <a:ext uri="{FF2B5EF4-FFF2-40B4-BE49-F238E27FC236}">
                <a16:creationId xmlns:a16="http://schemas.microsoft.com/office/drawing/2014/main" id="{6F168087-F1B5-CF8F-EB26-DA739D0A2F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4495800"/>
            <a:ext cx="3429000" cy="1653604"/>
          </a:xfrm>
          <a:prstGeom prst="rect">
            <a:avLst/>
          </a:prstGeom>
        </p:spPr>
      </p:pic>
      <p:grpSp>
        <p:nvGrpSpPr>
          <p:cNvPr id="11" name="Group 10">
            <a:extLst>
              <a:ext uri="{FF2B5EF4-FFF2-40B4-BE49-F238E27FC236}">
                <a16:creationId xmlns:a16="http://schemas.microsoft.com/office/drawing/2014/main" id="{7808C03A-9AC3-CF62-E584-597E8D8F0985}"/>
              </a:ext>
            </a:extLst>
          </p:cNvPr>
          <p:cNvGrpSpPr/>
          <p:nvPr/>
        </p:nvGrpSpPr>
        <p:grpSpPr>
          <a:xfrm>
            <a:off x="7012486" y="1385356"/>
            <a:ext cx="4963297" cy="2133600"/>
            <a:chOff x="6458766" y="3429000"/>
            <a:chExt cx="5344297" cy="3307123"/>
          </a:xfrm>
        </p:grpSpPr>
        <p:sp>
          <p:nvSpPr>
            <p:cNvPr id="12" name="Rectangle 11">
              <a:extLst>
                <a:ext uri="{FF2B5EF4-FFF2-40B4-BE49-F238E27FC236}">
                  <a16:creationId xmlns:a16="http://schemas.microsoft.com/office/drawing/2014/main" id="{13193830-CCBF-E8EA-5AF6-C2A69F35F494}"/>
                </a:ext>
              </a:extLst>
            </p:cNvPr>
            <p:cNvSpPr/>
            <p:nvPr/>
          </p:nvSpPr>
          <p:spPr>
            <a:xfrm>
              <a:off x="6458766" y="3429000"/>
              <a:ext cx="5344297" cy="3307123"/>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13" name="TextBox 12">
              <a:extLst>
                <a:ext uri="{FF2B5EF4-FFF2-40B4-BE49-F238E27FC236}">
                  <a16:creationId xmlns:a16="http://schemas.microsoft.com/office/drawing/2014/main" id="{0403746D-2568-FBB6-D283-FFC7215A287B}"/>
                </a:ext>
              </a:extLst>
            </p:cNvPr>
            <p:cNvSpPr txBox="1"/>
            <p:nvPr/>
          </p:nvSpPr>
          <p:spPr>
            <a:xfrm>
              <a:off x="6616314" y="3746749"/>
              <a:ext cx="5029200" cy="1914600"/>
            </a:xfrm>
            <a:prstGeom prst="rect">
              <a:avLst/>
            </a:prstGeom>
            <a:noFill/>
          </p:spPr>
          <p:txBody>
            <a:bodyPr wrap="square" rtlCol="0">
              <a:spAutoFit/>
            </a:bodyPr>
            <a:lstStyle/>
            <a:p>
              <a:pPr marL="342900" indent="-342900">
                <a:buFont typeface="Arial" panose="020B0604020202020204" pitchFamily="34" charset="0"/>
                <a:buChar char="•"/>
              </a:pPr>
              <a:r>
                <a:rPr lang="en-US" sz="2000" dirty="0"/>
                <a:t>This query calculates the average delivery time to evaluate logistics performance and understand its impact on customer experience.</a:t>
              </a:r>
              <a:endParaRPr lang="en-IN" dirty="0"/>
            </a:p>
          </p:txBody>
        </p:sp>
      </p:grpSp>
      <p:sp>
        <p:nvSpPr>
          <p:cNvPr id="14" name="object 3">
            <a:extLst>
              <a:ext uri="{FF2B5EF4-FFF2-40B4-BE49-F238E27FC236}">
                <a16:creationId xmlns:a16="http://schemas.microsoft.com/office/drawing/2014/main" id="{9725E81B-3132-E67F-ABA2-60947B7C1352}"/>
              </a:ext>
            </a:extLst>
          </p:cNvPr>
          <p:cNvSpPr txBox="1"/>
          <p:nvPr/>
        </p:nvSpPr>
        <p:spPr>
          <a:xfrm>
            <a:off x="239254" y="3625222"/>
            <a:ext cx="1148170" cy="382156"/>
          </a:xfrm>
          <a:prstGeom prst="rect">
            <a:avLst/>
          </a:prstGeom>
        </p:spPr>
        <p:txBody>
          <a:bodyPr vert="horz" wrap="square" lIns="0" tIns="12700" rIns="0" bIns="0" rtlCol="0">
            <a:spAutoFit/>
          </a:bodyPr>
          <a:lstStyle/>
          <a:p>
            <a:pPr marL="12700">
              <a:lnSpc>
                <a:spcPct val="100000"/>
              </a:lnSpc>
              <a:spcBef>
                <a:spcPts val="100"/>
              </a:spcBef>
            </a:pPr>
            <a:r>
              <a:rPr lang="en-US" sz="2400" dirty="0">
                <a:latin typeface="+mn-lt"/>
              </a:rPr>
              <a:t>   </a:t>
            </a:r>
            <a:r>
              <a:rPr lang="en-US" sz="2400" b="1" dirty="0">
                <a:solidFill>
                  <a:srgbClr val="C00000"/>
                </a:solidFill>
                <a:latin typeface="+mn-lt"/>
              </a:rPr>
              <a:t>result</a:t>
            </a:r>
            <a:endParaRPr sz="2400" b="1" dirty="0">
              <a:solidFill>
                <a:srgbClr val="C00000"/>
              </a:solidFill>
              <a:latin typeface="+mn-lt"/>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223748" y="337352"/>
            <a:ext cx="9957435" cy="372987"/>
          </a:xfrm>
          <a:prstGeom prst="rect">
            <a:avLst/>
          </a:prstGeom>
        </p:spPr>
        <p:txBody>
          <a:bodyPr vert="horz" wrap="square" lIns="0" tIns="6350" rIns="0" bIns="0" rtlCol="0">
            <a:spAutoFit/>
          </a:bodyPr>
          <a:lstStyle/>
          <a:p>
            <a:pPr marL="12700" marR="5080" indent="79375">
              <a:lnSpc>
                <a:spcPct val="103200"/>
              </a:lnSpc>
              <a:spcBef>
                <a:spcPts val="50"/>
              </a:spcBef>
            </a:pPr>
            <a:r>
              <a:rPr sz="2400" dirty="0">
                <a:solidFill>
                  <a:srgbClr val="C00000"/>
                </a:solidFill>
              </a:rPr>
              <a:t>6.</a:t>
            </a:r>
            <a:r>
              <a:rPr lang="en-US" sz="2400" dirty="0">
                <a:solidFill>
                  <a:srgbClr val="C00000"/>
                </a:solidFill>
              </a:rPr>
              <a:t> Find the top 10 most sold product categories.</a:t>
            </a:r>
            <a:endParaRPr sz="2400" dirty="0">
              <a:solidFill>
                <a:srgbClr val="C00000"/>
              </a:solidFill>
            </a:endParaRPr>
          </a:p>
        </p:txBody>
      </p:sp>
      <p:pic>
        <p:nvPicPr>
          <p:cNvPr id="8" name="Picture 7" descr="A computer screen shot of text&#10;&#10;AI-generated content may be incorrect.">
            <a:extLst>
              <a:ext uri="{FF2B5EF4-FFF2-40B4-BE49-F238E27FC236}">
                <a16:creationId xmlns:a16="http://schemas.microsoft.com/office/drawing/2014/main" id="{A326FB11-1BAE-073E-F68C-574CBF66CA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748" y="951207"/>
            <a:ext cx="5872252" cy="2553993"/>
          </a:xfrm>
          <a:prstGeom prst="rect">
            <a:avLst/>
          </a:prstGeom>
        </p:spPr>
      </p:pic>
      <p:grpSp>
        <p:nvGrpSpPr>
          <p:cNvPr id="11" name="Group 10">
            <a:extLst>
              <a:ext uri="{FF2B5EF4-FFF2-40B4-BE49-F238E27FC236}">
                <a16:creationId xmlns:a16="http://schemas.microsoft.com/office/drawing/2014/main" id="{58F9A0A4-9498-1F62-48EA-EF94062D029C}"/>
              </a:ext>
            </a:extLst>
          </p:cNvPr>
          <p:cNvGrpSpPr/>
          <p:nvPr/>
        </p:nvGrpSpPr>
        <p:grpSpPr>
          <a:xfrm>
            <a:off x="6858000" y="1143000"/>
            <a:ext cx="4963297" cy="1551700"/>
            <a:chOff x="6458766" y="3429000"/>
            <a:chExt cx="5344297" cy="3307123"/>
          </a:xfrm>
        </p:grpSpPr>
        <p:sp>
          <p:nvSpPr>
            <p:cNvPr id="12" name="Rectangle 11">
              <a:extLst>
                <a:ext uri="{FF2B5EF4-FFF2-40B4-BE49-F238E27FC236}">
                  <a16:creationId xmlns:a16="http://schemas.microsoft.com/office/drawing/2014/main" id="{1881C4C3-3D88-A4BD-8431-3F1F43C57FBB}"/>
                </a:ext>
              </a:extLst>
            </p:cNvPr>
            <p:cNvSpPr/>
            <p:nvPr/>
          </p:nvSpPr>
          <p:spPr>
            <a:xfrm>
              <a:off x="6458766" y="3429000"/>
              <a:ext cx="5344297" cy="3307123"/>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13" name="TextBox 12">
              <a:extLst>
                <a:ext uri="{FF2B5EF4-FFF2-40B4-BE49-F238E27FC236}">
                  <a16:creationId xmlns:a16="http://schemas.microsoft.com/office/drawing/2014/main" id="{6677AB86-81CE-E72F-6437-E244E3BC69BB}"/>
                </a:ext>
              </a:extLst>
            </p:cNvPr>
            <p:cNvSpPr txBox="1"/>
            <p:nvPr/>
          </p:nvSpPr>
          <p:spPr>
            <a:xfrm>
              <a:off x="6616314" y="3746749"/>
              <a:ext cx="5029200" cy="1574298"/>
            </a:xfrm>
            <a:prstGeom prst="rect">
              <a:avLst/>
            </a:prstGeom>
            <a:noFill/>
          </p:spPr>
          <p:txBody>
            <a:bodyPr wrap="square" rtlCol="0">
              <a:spAutoFit/>
            </a:bodyPr>
            <a:lstStyle/>
            <a:p>
              <a:pPr marL="342900" indent="-342900">
                <a:buFont typeface="Arial" panose="020B0604020202020204" pitchFamily="34" charset="0"/>
                <a:buChar char="•"/>
              </a:pPr>
              <a:r>
                <a:rPr lang="en-US" sz="2000" dirty="0"/>
                <a:t>This query identifies the most popular product categories based on total items sold.</a:t>
              </a:r>
              <a:endParaRPr lang="en-IN" dirty="0"/>
            </a:p>
          </p:txBody>
        </p:sp>
      </p:grpSp>
      <p:sp>
        <p:nvSpPr>
          <p:cNvPr id="14" name="object 3">
            <a:extLst>
              <a:ext uri="{FF2B5EF4-FFF2-40B4-BE49-F238E27FC236}">
                <a16:creationId xmlns:a16="http://schemas.microsoft.com/office/drawing/2014/main" id="{1EFA2F62-6D1F-B8B4-EC8D-4DB7CA612EB9}"/>
              </a:ext>
            </a:extLst>
          </p:cNvPr>
          <p:cNvSpPr txBox="1"/>
          <p:nvPr/>
        </p:nvSpPr>
        <p:spPr>
          <a:xfrm>
            <a:off x="152400" y="3700883"/>
            <a:ext cx="1148170" cy="382156"/>
          </a:xfrm>
          <a:prstGeom prst="rect">
            <a:avLst/>
          </a:prstGeom>
        </p:spPr>
        <p:txBody>
          <a:bodyPr vert="horz" wrap="square" lIns="0" tIns="12700" rIns="0" bIns="0" rtlCol="0">
            <a:spAutoFit/>
          </a:bodyPr>
          <a:lstStyle/>
          <a:p>
            <a:pPr marL="12700">
              <a:lnSpc>
                <a:spcPct val="100000"/>
              </a:lnSpc>
              <a:spcBef>
                <a:spcPts val="100"/>
              </a:spcBef>
            </a:pPr>
            <a:r>
              <a:rPr lang="en-US" sz="2400" dirty="0">
                <a:latin typeface="+mn-lt"/>
              </a:rPr>
              <a:t>   </a:t>
            </a:r>
            <a:r>
              <a:rPr lang="en-US" sz="2400" b="1" dirty="0">
                <a:solidFill>
                  <a:srgbClr val="C00000"/>
                </a:solidFill>
                <a:latin typeface="+mn-lt"/>
              </a:rPr>
              <a:t>result</a:t>
            </a:r>
            <a:endParaRPr sz="2400" b="1" dirty="0">
              <a:solidFill>
                <a:srgbClr val="C00000"/>
              </a:solidFill>
              <a:latin typeface="+mn-lt"/>
              <a:cs typeface="Calibri"/>
            </a:endParaRPr>
          </a:p>
        </p:txBody>
      </p:sp>
      <p:pic>
        <p:nvPicPr>
          <p:cNvPr id="16" name="Picture 15" descr="A screenshot of a computer&#10;&#10;AI-generated content may be incorrect.">
            <a:extLst>
              <a:ext uri="{FF2B5EF4-FFF2-40B4-BE49-F238E27FC236}">
                <a16:creationId xmlns:a16="http://schemas.microsoft.com/office/drawing/2014/main" id="{D56CC07C-594B-72B4-699F-2302922F08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400" y="4163299"/>
            <a:ext cx="4267200" cy="2237501"/>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AAB17DA6-7329-D81B-7964-13CB05D2D6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 y="4163299"/>
            <a:ext cx="3886200" cy="223750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601" y="47942"/>
            <a:ext cx="6146800" cy="687110"/>
          </a:xfrm>
          <a:prstGeom prst="rect">
            <a:avLst/>
          </a:prstGeom>
        </p:spPr>
        <p:txBody>
          <a:bodyPr vert="horz" wrap="square" lIns="0" tIns="314705" rIns="0" bIns="0" rtlCol="0">
            <a:spAutoFit/>
          </a:bodyPr>
          <a:lstStyle/>
          <a:p>
            <a:pPr marR="5080" indent="273050">
              <a:lnSpc>
                <a:spcPct val="100000"/>
              </a:lnSpc>
              <a:spcBef>
                <a:spcPts val="100"/>
              </a:spcBef>
            </a:pPr>
            <a:r>
              <a:rPr lang="en-US" sz="2400" dirty="0">
                <a:solidFill>
                  <a:srgbClr val="C00000"/>
                </a:solidFill>
              </a:rPr>
              <a:t>7. Find the most common payment type.</a:t>
            </a:r>
            <a:endParaRPr sz="2000" dirty="0">
              <a:solidFill>
                <a:srgbClr val="C00000"/>
              </a:solidFill>
            </a:endParaRPr>
          </a:p>
        </p:txBody>
      </p:sp>
      <p:pic>
        <p:nvPicPr>
          <p:cNvPr id="8" name="Picture 7" descr="A screenshot of a computer code&#10;&#10;AI-generated content may be incorrect.">
            <a:extLst>
              <a:ext uri="{FF2B5EF4-FFF2-40B4-BE49-F238E27FC236}">
                <a16:creationId xmlns:a16="http://schemas.microsoft.com/office/drawing/2014/main" id="{751E2F00-1167-10E0-8719-233B20E4C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90600"/>
            <a:ext cx="6400799" cy="2602291"/>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06ED38EA-458B-1A54-7C67-81A2018FAD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4503388"/>
            <a:ext cx="3962400" cy="1364012"/>
          </a:xfrm>
          <a:prstGeom prst="rect">
            <a:avLst/>
          </a:prstGeom>
        </p:spPr>
      </p:pic>
      <p:sp>
        <p:nvSpPr>
          <p:cNvPr id="11" name="object 3">
            <a:extLst>
              <a:ext uri="{FF2B5EF4-FFF2-40B4-BE49-F238E27FC236}">
                <a16:creationId xmlns:a16="http://schemas.microsoft.com/office/drawing/2014/main" id="{BFACF4C4-BD28-E595-41DE-A6023085D3C4}"/>
              </a:ext>
            </a:extLst>
          </p:cNvPr>
          <p:cNvSpPr txBox="1"/>
          <p:nvPr/>
        </p:nvSpPr>
        <p:spPr>
          <a:xfrm>
            <a:off x="230372" y="3848439"/>
            <a:ext cx="1148170" cy="382156"/>
          </a:xfrm>
          <a:prstGeom prst="rect">
            <a:avLst/>
          </a:prstGeom>
        </p:spPr>
        <p:txBody>
          <a:bodyPr vert="horz" wrap="square" lIns="0" tIns="12700" rIns="0" bIns="0" rtlCol="0">
            <a:spAutoFit/>
          </a:bodyPr>
          <a:lstStyle/>
          <a:p>
            <a:pPr marL="12700">
              <a:lnSpc>
                <a:spcPct val="100000"/>
              </a:lnSpc>
              <a:spcBef>
                <a:spcPts val="100"/>
              </a:spcBef>
            </a:pPr>
            <a:r>
              <a:rPr lang="en-US" sz="2400" dirty="0">
                <a:latin typeface="+mn-lt"/>
              </a:rPr>
              <a:t>   </a:t>
            </a:r>
            <a:r>
              <a:rPr lang="en-US" sz="2400" b="1" dirty="0">
                <a:solidFill>
                  <a:srgbClr val="C00000"/>
                </a:solidFill>
                <a:latin typeface="+mn-lt"/>
              </a:rPr>
              <a:t>result</a:t>
            </a:r>
            <a:endParaRPr sz="2400" b="1" dirty="0">
              <a:solidFill>
                <a:srgbClr val="C00000"/>
              </a:solidFill>
              <a:latin typeface="+mn-lt"/>
              <a:cs typeface="Calibri"/>
            </a:endParaRPr>
          </a:p>
        </p:txBody>
      </p:sp>
      <p:grpSp>
        <p:nvGrpSpPr>
          <p:cNvPr id="12" name="Group 11">
            <a:extLst>
              <a:ext uri="{FF2B5EF4-FFF2-40B4-BE49-F238E27FC236}">
                <a16:creationId xmlns:a16="http://schemas.microsoft.com/office/drawing/2014/main" id="{5F953A09-B619-73D9-68D2-86368E1979CA}"/>
              </a:ext>
            </a:extLst>
          </p:cNvPr>
          <p:cNvGrpSpPr/>
          <p:nvPr/>
        </p:nvGrpSpPr>
        <p:grpSpPr>
          <a:xfrm>
            <a:off x="7086600" y="1249195"/>
            <a:ext cx="4963297" cy="2085100"/>
            <a:chOff x="6458766" y="3883615"/>
            <a:chExt cx="5344297" cy="4443953"/>
          </a:xfrm>
        </p:grpSpPr>
        <p:sp>
          <p:nvSpPr>
            <p:cNvPr id="13" name="Rectangle 12">
              <a:extLst>
                <a:ext uri="{FF2B5EF4-FFF2-40B4-BE49-F238E27FC236}">
                  <a16:creationId xmlns:a16="http://schemas.microsoft.com/office/drawing/2014/main" id="{552611E3-5E16-D6BF-E279-3C186E92882E}"/>
                </a:ext>
              </a:extLst>
            </p:cNvPr>
            <p:cNvSpPr/>
            <p:nvPr/>
          </p:nvSpPr>
          <p:spPr>
            <a:xfrm>
              <a:off x="6458766" y="3883615"/>
              <a:ext cx="5344297" cy="4443953"/>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14" name="TextBox 13">
              <a:extLst>
                <a:ext uri="{FF2B5EF4-FFF2-40B4-BE49-F238E27FC236}">
                  <a16:creationId xmlns:a16="http://schemas.microsoft.com/office/drawing/2014/main" id="{FBA9D4BF-5FAE-694B-FD2D-7E1EE715D504}"/>
                </a:ext>
              </a:extLst>
            </p:cNvPr>
            <p:cNvSpPr txBox="1"/>
            <p:nvPr/>
          </p:nvSpPr>
          <p:spPr>
            <a:xfrm>
              <a:off x="6741424" y="4367294"/>
              <a:ext cx="5029200" cy="3476594"/>
            </a:xfrm>
            <a:prstGeom prst="rect">
              <a:avLst/>
            </a:prstGeom>
            <a:noFill/>
          </p:spPr>
          <p:txBody>
            <a:bodyPr wrap="square" rtlCol="0">
              <a:spAutoFit/>
            </a:bodyPr>
            <a:lstStyle/>
            <a:p>
              <a:pPr marL="342900" indent="-342900">
                <a:buFont typeface="Arial" panose="020B0604020202020204" pitchFamily="34" charset="0"/>
                <a:buChar char="•"/>
              </a:pPr>
              <a:r>
                <a:rPr lang="en-US" sz="2000" dirty="0"/>
                <a:t>This query identifies the dominant payment methods to help businesses optimize the checkout process and design better promotional offers.</a:t>
              </a:r>
              <a:endParaRPr lang="en-IN"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304800" y="97133"/>
            <a:ext cx="3586479" cy="509114"/>
          </a:xfrm>
          <a:prstGeom prst="rect">
            <a:avLst/>
          </a:prstGeom>
        </p:spPr>
        <p:txBody>
          <a:bodyPr vert="horz" wrap="square" lIns="0" tIns="16510" rIns="0" bIns="0" rtlCol="0">
            <a:spAutoFit/>
          </a:bodyPr>
          <a:lstStyle/>
          <a:p>
            <a:pPr marL="12700">
              <a:lnSpc>
                <a:spcPct val="100000"/>
              </a:lnSpc>
              <a:spcBef>
                <a:spcPts val="130"/>
              </a:spcBef>
            </a:pPr>
            <a:r>
              <a:rPr sz="3200" dirty="0">
                <a:solidFill>
                  <a:srgbClr val="C00000"/>
                </a:solidFill>
                <a:latin typeface="Calibri" panose="020F0502020204030204" pitchFamily="34" charset="0"/>
                <a:cs typeface="Calibri" panose="020F0502020204030204" pitchFamily="34" charset="0"/>
              </a:rPr>
              <a:t>Business</a:t>
            </a:r>
            <a:r>
              <a:rPr sz="3200" spc="40" dirty="0">
                <a:solidFill>
                  <a:srgbClr val="C00000"/>
                </a:solidFill>
                <a:latin typeface="Calibri" panose="020F0502020204030204" pitchFamily="34" charset="0"/>
                <a:cs typeface="Calibri" panose="020F0502020204030204" pitchFamily="34" charset="0"/>
              </a:rPr>
              <a:t> </a:t>
            </a:r>
            <a:r>
              <a:rPr sz="3200" spc="-10" dirty="0">
                <a:solidFill>
                  <a:srgbClr val="C00000"/>
                </a:solidFill>
                <a:latin typeface="Calibri" panose="020F0502020204030204" pitchFamily="34" charset="0"/>
                <a:cs typeface="Calibri" panose="020F0502020204030204" pitchFamily="34" charset="0"/>
              </a:rPr>
              <a:t>Insights</a:t>
            </a:r>
          </a:p>
        </p:txBody>
      </p:sp>
      <p:sp>
        <p:nvSpPr>
          <p:cNvPr id="3" name="Rectangle 2">
            <a:extLst>
              <a:ext uri="{FF2B5EF4-FFF2-40B4-BE49-F238E27FC236}">
                <a16:creationId xmlns:a16="http://schemas.microsoft.com/office/drawing/2014/main" id="{E4E8539F-1D8E-8A14-6531-CC9432FA72D0}"/>
              </a:ext>
            </a:extLst>
          </p:cNvPr>
          <p:cNvSpPr>
            <a:spLocks noChangeArrowheads="1"/>
          </p:cNvSpPr>
          <p:nvPr/>
        </p:nvSpPr>
        <p:spPr bwMode="auto">
          <a:xfrm rot="10800000" flipV="1">
            <a:off x="266700" y="710027"/>
            <a:ext cx="1135380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The platform has a strong customer base, indicating effective market reach.</a:t>
            </a:r>
            <a:endParaRPr lang="en-US" altLang="en-US" sz="2000" dirty="0">
              <a:solidFill>
                <a:schemeClr val="tx1"/>
              </a:solidFill>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Customer demand is concentrated in a few states, enabling targeted regional strategies.</a:t>
            </a:r>
          </a:p>
          <a:p>
            <a:pPr marR="0" lvl="0" algn="just"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Low repeat purchases highlight weak customer retention, requiring loyalty and engagement initiatives.</a:t>
            </a:r>
          </a:p>
          <a:p>
            <a:pPr marR="0" lvl="0" algn="just"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Order fulfillment is efficient, with deliveries far exceeding cancellations, though further optimization is possible.</a:t>
            </a:r>
          </a:p>
          <a:p>
            <a:pPr marR="0" lvl="0" algn="just"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Logistics performance and delivery speed directly impact customer satisfaction and reviews.</a:t>
            </a:r>
          </a:p>
          <a:p>
            <a:pPr marR="0" lvl="0" algn="just"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A few product categories drive most sales, making them key priorities for inventory and promotions.</a:t>
            </a:r>
          </a:p>
          <a:p>
            <a:pPr marR="0" lvl="0" algn="just"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Credit cards dominate payment methods, presenting opportunities for checkout optimization and card-based offers.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256FE8-0C42-998C-3175-5C1A8A5AE254}"/>
              </a:ext>
            </a:extLst>
          </p:cNvPr>
          <p:cNvSpPr txBox="1"/>
          <p:nvPr/>
        </p:nvSpPr>
        <p:spPr>
          <a:xfrm>
            <a:off x="533400" y="1524329"/>
            <a:ext cx="11430000" cy="1908215"/>
          </a:xfrm>
          <a:prstGeom prst="rect">
            <a:avLst/>
          </a:prstGeom>
          <a:noFill/>
        </p:spPr>
        <p:txBody>
          <a:bodyPr wrap="square" rtlCol="0">
            <a:spAutoFit/>
          </a:bodyPr>
          <a:lstStyle/>
          <a:p>
            <a:pPr algn="just"/>
            <a:r>
              <a:rPr lang="en-US" sz="2000" dirty="0"/>
              <a:t>This project showcases the use of SQL for real-world retail data analysis, uncovering insights into customer behavior, order performance, product demand, delivery efficiency, and payment preferences. The findings highlight strong customer reach, low retention opportunities, efficient deliveries with scope for improvement, and the dominance of key product categories and payment methods, enabling data-driven business decisions.</a:t>
            </a:r>
          </a:p>
          <a:p>
            <a:endParaRPr lang="en-IN" dirty="0"/>
          </a:p>
        </p:txBody>
      </p:sp>
      <p:sp>
        <p:nvSpPr>
          <p:cNvPr id="4" name="TextBox 3">
            <a:extLst>
              <a:ext uri="{FF2B5EF4-FFF2-40B4-BE49-F238E27FC236}">
                <a16:creationId xmlns:a16="http://schemas.microsoft.com/office/drawing/2014/main" id="{E9F10482-8F49-60CB-C8FC-1864C1955B9C}"/>
              </a:ext>
            </a:extLst>
          </p:cNvPr>
          <p:cNvSpPr txBox="1"/>
          <p:nvPr/>
        </p:nvSpPr>
        <p:spPr>
          <a:xfrm>
            <a:off x="457200" y="304800"/>
            <a:ext cx="5791200" cy="584775"/>
          </a:xfrm>
          <a:prstGeom prst="rect">
            <a:avLst/>
          </a:prstGeom>
          <a:noFill/>
        </p:spPr>
        <p:txBody>
          <a:bodyPr wrap="square" rtlCol="0">
            <a:spAutoFit/>
          </a:bodyPr>
          <a:lstStyle/>
          <a:p>
            <a:r>
              <a:rPr lang="en-US" sz="3200" b="1" dirty="0">
                <a:solidFill>
                  <a:srgbClr val="C00000"/>
                </a:solidFill>
                <a:latin typeface="Arial" panose="020B0604020202020204" pitchFamily="34" charset="0"/>
                <a:cs typeface="Arial" panose="020B0604020202020204" pitchFamily="34" charset="0"/>
              </a:rPr>
              <a:t>Conclusion</a:t>
            </a:r>
            <a:endParaRPr lang="en-IN" sz="3200" b="1"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467475" y="1847850"/>
            <a:ext cx="4467225" cy="2838450"/>
          </a:xfrm>
          <a:prstGeom prst="rect">
            <a:avLst/>
          </a:prstGeom>
        </p:spPr>
      </p:pic>
      <p:sp>
        <p:nvSpPr>
          <p:cNvPr id="3" name="object 3"/>
          <p:cNvSpPr txBox="1">
            <a:spLocks noGrp="1"/>
          </p:cNvSpPr>
          <p:nvPr>
            <p:ph type="title"/>
          </p:nvPr>
        </p:nvSpPr>
        <p:spPr>
          <a:xfrm>
            <a:off x="838200" y="3082655"/>
            <a:ext cx="4953000" cy="692689"/>
          </a:xfrm>
          <a:prstGeom prst="rect">
            <a:avLst/>
          </a:prstGeom>
        </p:spPr>
        <p:txBody>
          <a:bodyPr vert="horz" wrap="square" lIns="0" tIns="32384" rIns="0" bIns="0" rtlCol="0">
            <a:spAutoFit/>
          </a:bodyPr>
          <a:lstStyle/>
          <a:p>
            <a:pPr marL="12700" marR="5080">
              <a:lnSpc>
                <a:spcPts val="5260"/>
              </a:lnSpc>
              <a:spcBef>
                <a:spcPts val="254"/>
              </a:spcBef>
            </a:pPr>
            <a:r>
              <a:rPr sz="4400" spc="220" dirty="0">
                <a:solidFill>
                  <a:srgbClr val="C00000"/>
                </a:solidFill>
                <a:latin typeface="Palatino Linotype"/>
                <a:cs typeface="Palatino Linotype"/>
              </a:rPr>
              <a:t>THANK </a:t>
            </a:r>
            <a:r>
              <a:rPr sz="4400" spc="175" dirty="0">
                <a:solidFill>
                  <a:srgbClr val="C00000"/>
                </a:solidFill>
                <a:latin typeface="Palatino Linotype"/>
                <a:cs typeface="Palatino Linotype"/>
              </a:rPr>
              <a:t>YOU</a:t>
            </a:r>
            <a:endParaRPr sz="4400" dirty="0">
              <a:latin typeface="Palatino Linotype"/>
              <a:cs typeface="Palatino Linotyp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637</TotalTime>
  <Words>720</Words>
  <Application>Microsoft Office PowerPoint</Application>
  <PresentationFormat>Widescreen</PresentationFormat>
  <Paragraphs>93</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 MT</vt:lpstr>
      <vt:lpstr>Calibri</vt:lpstr>
      <vt:lpstr>Cambria</vt:lpstr>
      <vt:lpstr>Palatino Linotype</vt:lpstr>
      <vt:lpstr>Tahoma</vt:lpstr>
      <vt:lpstr>Office Theme</vt:lpstr>
      <vt:lpstr> Retail Analysis</vt:lpstr>
      <vt:lpstr>About me</vt:lpstr>
      <vt:lpstr>Agenda</vt:lpstr>
      <vt:lpstr>PowerPoint Presentation</vt:lpstr>
      <vt:lpstr>PowerPoint Presentation</vt:lpstr>
      <vt:lpstr>ER Diagram and schema explanation   </vt:lpstr>
      <vt:lpstr>PowerPoint Presentation</vt:lpstr>
      <vt:lpstr>PowerPoint Presentation</vt:lpstr>
      <vt:lpstr>3. What is the customer retention rate (customers who placed more than one order)?</vt:lpstr>
      <vt:lpstr>4. What is the total number of delivered and canceled orders?</vt:lpstr>
      <vt:lpstr>PowerPoint Presentation</vt:lpstr>
      <vt:lpstr>6. Find the top 10 most sold product categories.</vt:lpstr>
      <vt:lpstr>7. Find the most common payment type.</vt:lpstr>
      <vt:lpstr>Business Insights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Nikita Nikam</dc:creator>
  <cp:lastModifiedBy>Nikita Nikam</cp:lastModifiedBy>
  <cp:revision>7</cp:revision>
  <dcterms:created xsi:type="dcterms:W3CDTF">2025-12-18T04:28:36Z</dcterms:created>
  <dcterms:modified xsi:type="dcterms:W3CDTF">2026-01-17T03:23:35Z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2025-12-18T00:00:00Z</vt:filetime>
  </property>
  <property fmtid="{D5CDD505-2E9C-101B-9397-08002B2CF9AE}" pid="3" name="LastSaved">
    <vt:filetime>2025-12-18T00:00:00Z</vt:filetime>
  </property>
</Properties>
</file>